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4610100" cy="3460750"/>
  <p:notesSz cx="4610100" cy="3460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 spc="-10"/>
              <a:t>Final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dirty="0" spc="30"/>
              <a:t> </a:t>
            </a:r>
            <a:r>
              <a:rPr dirty="0"/>
              <a:t>23,</a:t>
            </a:r>
            <a:r>
              <a:rPr dirty="0" spc="35"/>
              <a:t> </a:t>
            </a: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71120">
              <a:lnSpc>
                <a:spcPts val="580"/>
              </a:lnSpc>
            </a:pPr>
            <a:fld id="{81D60167-4931-47E6-BA6A-407CBD079E47}" type="slidenum">
              <a:rPr dirty="0"/>
              <a:t>#</a:t>
            </a:fld>
            <a:r>
              <a:rPr dirty="0" spc="30"/>
              <a:t> </a:t>
            </a:r>
            <a:r>
              <a:rPr dirty="0" spc="125"/>
              <a:t>/</a:t>
            </a:r>
            <a:r>
              <a:rPr dirty="0" spc="30"/>
              <a:t> </a:t>
            </a:r>
            <a:r>
              <a:rPr dirty="0" spc="-25"/>
              <a:t>24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 spc="-10"/>
              <a:t>Final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dirty="0" spc="30"/>
              <a:t> </a:t>
            </a:r>
            <a:r>
              <a:rPr dirty="0"/>
              <a:t>23,</a:t>
            </a:r>
            <a:r>
              <a:rPr dirty="0" spc="35"/>
              <a:t> </a:t>
            </a: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71120">
              <a:lnSpc>
                <a:spcPts val="580"/>
              </a:lnSpc>
            </a:pPr>
            <a:fld id="{81D60167-4931-47E6-BA6A-407CBD079E47}" type="slidenum">
              <a:rPr dirty="0"/>
              <a:t>#</a:t>
            </a:fld>
            <a:r>
              <a:rPr dirty="0" spc="30"/>
              <a:t> </a:t>
            </a:r>
            <a:r>
              <a:rPr dirty="0" spc="125"/>
              <a:t>/</a:t>
            </a:r>
            <a:r>
              <a:rPr dirty="0" spc="30"/>
              <a:t> </a:t>
            </a:r>
            <a:r>
              <a:rPr dirty="0" spc="-25"/>
              <a:t>24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 spc="-10"/>
              <a:t>Final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dirty="0" spc="30"/>
              <a:t> </a:t>
            </a:r>
            <a:r>
              <a:rPr dirty="0"/>
              <a:t>23,</a:t>
            </a:r>
            <a:r>
              <a:rPr dirty="0" spc="35"/>
              <a:t> </a:t>
            </a:r>
            <a:r>
              <a:rPr dirty="0" spc="-20"/>
              <a:t>2026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71120">
              <a:lnSpc>
                <a:spcPts val="580"/>
              </a:lnSpc>
            </a:pPr>
            <a:fld id="{81D60167-4931-47E6-BA6A-407CBD079E47}" type="slidenum">
              <a:rPr dirty="0"/>
              <a:t>#</a:t>
            </a:fld>
            <a:r>
              <a:rPr dirty="0" spc="30"/>
              <a:t> </a:t>
            </a:r>
            <a:r>
              <a:rPr dirty="0" spc="125"/>
              <a:t>/</a:t>
            </a:r>
            <a:r>
              <a:rPr dirty="0" spc="30"/>
              <a:t> </a:t>
            </a:r>
            <a:r>
              <a:rPr dirty="0" spc="-25"/>
              <a:t>24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 spc="-10"/>
              <a:t>Final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dirty="0" spc="30"/>
              <a:t> </a:t>
            </a:r>
            <a:r>
              <a:rPr dirty="0"/>
              <a:t>23,</a:t>
            </a:r>
            <a:r>
              <a:rPr dirty="0" spc="35"/>
              <a:t> </a:t>
            </a:r>
            <a:r>
              <a:rPr dirty="0" spc="-2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71120">
              <a:lnSpc>
                <a:spcPts val="580"/>
              </a:lnSpc>
            </a:pPr>
            <a:fld id="{81D60167-4931-47E6-BA6A-407CBD079E47}" type="slidenum">
              <a:rPr dirty="0"/>
              <a:t>#</a:t>
            </a:fld>
            <a:r>
              <a:rPr dirty="0" spc="30"/>
              <a:t> </a:t>
            </a:r>
            <a:r>
              <a:rPr dirty="0" spc="125"/>
              <a:t>/</a:t>
            </a:r>
            <a:r>
              <a:rPr dirty="0" spc="30"/>
              <a:t> </a:t>
            </a:r>
            <a:r>
              <a:rPr dirty="0" spc="-25"/>
              <a:t>24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 spc="-10"/>
              <a:t>Final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dirty="0" spc="30"/>
              <a:t> </a:t>
            </a:r>
            <a:r>
              <a:rPr dirty="0"/>
              <a:t>23,</a:t>
            </a:r>
            <a:r>
              <a:rPr dirty="0" spc="35"/>
              <a:t> </a:t>
            </a:r>
            <a:r>
              <a:rPr dirty="0" spc="-2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71120">
              <a:lnSpc>
                <a:spcPts val="580"/>
              </a:lnSpc>
            </a:pPr>
            <a:fld id="{81D60167-4931-47E6-BA6A-407CBD079E47}" type="slidenum">
              <a:rPr dirty="0"/>
              <a:t>#</a:t>
            </a:fld>
            <a:r>
              <a:rPr dirty="0" spc="30"/>
              <a:t> </a:t>
            </a:r>
            <a:r>
              <a:rPr dirty="0" spc="125"/>
              <a:t>/</a:t>
            </a:r>
            <a:r>
              <a:rPr dirty="0" spc="30"/>
              <a:t> </a:t>
            </a:r>
            <a:r>
              <a:rPr dirty="0" spc="-25"/>
              <a:t>24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0E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8"/>
            <a:ext cx="286194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0375" y="997667"/>
            <a:ext cx="3167379" cy="1150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4521" y="3367039"/>
            <a:ext cx="163195" cy="89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 spc="-10"/>
              <a:t>Final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081631" y="3367039"/>
            <a:ext cx="467360" cy="89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dirty="0" spc="30"/>
              <a:t> </a:t>
            </a:r>
            <a:r>
              <a:rPr dirty="0"/>
              <a:t>23,</a:t>
            </a:r>
            <a:r>
              <a:rPr dirty="0" spc="35"/>
              <a:t> </a:t>
            </a: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289831" y="3367039"/>
            <a:ext cx="264160" cy="89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71120">
              <a:lnSpc>
                <a:spcPts val="580"/>
              </a:lnSpc>
            </a:pPr>
            <a:fld id="{81D60167-4931-47E6-BA6A-407CBD079E47}" type="slidenum">
              <a:rPr dirty="0"/>
              <a:t>#</a:t>
            </a:fld>
            <a:r>
              <a:rPr dirty="0" spc="30"/>
              <a:t> </a:t>
            </a:r>
            <a:r>
              <a:rPr dirty="0" spc="125"/>
              <a:t>/</a:t>
            </a:r>
            <a:r>
              <a:rPr dirty="0" spc="30"/>
              <a:t> </a:t>
            </a:r>
            <a:r>
              <a:rPr dirty="0" spc="-25"/>
              <a:t>24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6.xml"/><Relationship Id="rId5" Type="http://schemas.openxmlformats.org/officeDocument/2006/relationships/slide" Target="slide10.xml"/><Relationship Id="rId6" Type="http://schemas.openxmlformats.org/officeDocument/2006/relationships/slide" Target="slide11.xml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16.xml"/><Relationship Id="rId10" Type="http://schemas.openxmlformats.org/officeDocument/2006/relationships/slide" Target="slide21.xml"/><Relationship Id="rId11" Type="http://schemas.openxmlformats.org/officeDocument/2006/relationships/slide" Target="slide22.xml"/><Relationship Id="rId12" Type="http://schemas.openxmlformats.org/officeDocument/2006/relationships/slide" Target="slide23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6232" y="142669"/>
            <a:ext cx="3731260" cy="578485"/>
          </a:xfrm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 marR="5080" indent="687705">
              <a:lnSpc>
                <a:spcPct val="102699"/>
              </a:lnSpc>
              <a:spcBef>
                <a:spcPts val="55"/>
              </a:spcBef>
            </a:pPr>
            <a:r>
              <a:rPr dirty="0" sz="1200" spc="-10" b="1">
                <a:solidFill>
                  <a:srgbClr val="000000"/>
                </a:solidFill>
                <a:latin typeface="Arial"/>
                <a:cs typeface="Arial"/>
              </a:rPr>
              <a:t>SREE</a:t>
            </a:r>
            <a:r>
              <a:rPr dirty="0" sz="1200" spc="45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0000"/>
                </a:solidFill>
                <a:latin typeface="Arial"/>
                <a:cs typeface="Arial"/>
              </a:rPr>
              <a:t>NARAYANA</a:t>
            </a:r>
            <a:r>
              <a:rPr dirty="0" sz="1200" spc="45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000000"/>
                </a:solidFill>
                <a:latin typeface="Arial"/>
                <a:cs typeface="Arial"/>
              </a:rPr>
              <a:t>MANGALAM </a:t>
            </a:r>
            <a:r>
              <a:rPr dirty="0" sz="1200" spc="60" b="1">
                <a:solidFill>
                  <a:srgbClr val="000000"/>
                </a:solidFill>
                <a:latin typeface="Arial"/>
                <a:cs typeface="Arial"/>
              </a:rPr>
              <a:t>INSTITUTE</a:t>
            </a:r>
            <a:r>
              <a:rPr dirty="0" sz="1200" spc="195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200" spc="10" b="1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dirty="0" sz="1200" spc="195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200" spc="10" b="1">
                <a:solidFill>
                  <a:srgbClr val="000000"/>
                </a:solidFill>
                <a:latin typeface="Arial"/>
                <a:cs typeface="Arial"/>
              </a:rPr>
              <a:t>MANAGEMENT</a:t>
            </a:r>
            <a:r>
              <a:rPr dirty="0" sz="1200" spc="2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200" spc="125" b="1">
                <a:solidFill>
                  <a:srgbClr val="000000"/>
                </a:solidFill>
                <a:latin typeface="Arial"/>
                <a:cs typeface="Arial"/>
              </a:rPr>
              <a:t>&amp;</a:t>
            </a:r>
            <a:r>
              <a:rPr dirty="0" sz="1200" spc="19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000000"/>
                </a:solidFill>
                <a:latin typeface="Arial"/>
                <a:cs typeface="Arial"/>
              </a:rPr>
              <a:t>TECHNOLOGY</a:t>
            </a:r>
            <a:endParaRPr sz="1200">
              <a:latin typeface="Arial"/>
              <a:cs typeface="Arial"/>
            </a:endParaRPr>
          </a:p>
          <a:p>
            <a:pPr marL="266700">
              <a:lnSpc>
                <a:spcPct val="100000"/>
              </a:lnSpc>
              <a:spcBef>
                <a:spcPts val="240"/>
              </a:spcBef>
            </a:pPr>
            <a:r>
              <a:rPr dirty="0" sz="1000" spc="10">
                <a:solidFill>
                  <a:srgbClr val="000000"/>
                </a:solidFill>
              </a:rPr>
              <a:t>MALIANKARA</a:t>
            </a:r>
            <a:r>
              <a:rPr dirty="0" sz="1000" spc="55">
                <a:solidFill>
                  <a:srgbClr val="000000"/>
                </a:solidFill>
              </a:rPr>
              <a:t> </a:t>
            </a:r>
            <a:r>
              <a:rPr dirty="0" sz="1000">
                <a:solidFill>
                  <a:srgbClr val="000000"/>
                </a:solidFill>
              </a:rPr>
              <a:t>P.O.,</a:t>
            </a:r>
            <a:r>
              <a:rPr dirty="0" sz="1000" spc="60">
                <a:solidFill>
                  <a:srgbClr val="000000"/>
                </a:solidFill>
              </a:rPr>
              <a:t> </a:t>
            </a:r>
            <a:r>
              <a:rPr dirty="0" sz="1000" spc="10">
                <a:solidFill>
                  <a:srgbClr val="000000"/>
                </a:solidFill>
              </a:rPr>
              <a:t>N.</a:t>
            </a:r>
            <a:r>
              <a:rPr dirty="0" sz="1000" spc="55">
                <a:solidFill>
                  <a:srgbClr val="000000"/>
                </a:solidFill>
              </a:rPr>
              <a:t> </a:t>
            </a:r>
            <a:r>
              <a:rPr dirty="0" sz="1000" spc="10">
                <a:solidFill>
                  <a:srgbClr val="000000"/>
                </a:solidFill>
              </a:rPr>
              <a:t>PARAVUR,</a:t>
            </a:r>
            <a:r>
              <a:rPr dirty="0" sz="1000" spc="60">
                <a:solidFill>
                  <a:srgbClr val="000000"/>
                </a:solidFill>
              </a:rPr>
              <a:t> </a:t>
            </a:r>
            <a:r>
              <a:rPr dirty="0" sz="1000" spc="50">
                <a:solidFill>
                  <a:srgbClr val="000000"/>
                </a:solidFill>
              </a:rPr>
              <a:t>ERNAKULAM </a:t>
            </a:r>
            <a:r>
              <a:rPr dirty="0" sz="1000" spc="10">
                <a:solidFill>
                  <a:srgbClr val="000000"/>
                </a:solidFill>
              </a:rPr>
              <a:t>-</a:t>
            </a:r>
            <a:r>
              <a:rPr dirty="0" sz="1000" spc="55">
                <a:solidFill>
                  <a:srgbClr val="000000"/>
                </a:solidFill>
              </a:rPr>
              <a:t> </a:t>
            </a:r>
            <a:r>
              <a:rPr dirty="0" sz="1000" spc="-10">
                <a:solidFill>
                  <a:srgbClr val="000000"/>
                </a:solidFill>
              </a:rPr>
              <a:t>683516</a:t>
            </a:r>
            <a:endParaRPr sz="10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5444" y="859672"/>
            <a:ext cx="490118" cy="649023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747255" y="1685238"/>
            <a:ext cx="311404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b="1">
                <a:latin typeface="Arial"/>
                <a:cs typeface="Arial"/>
              </a:rPr>
              <a:t>DEPARTMENT</a:t>
            </a:r>
            <a:r>
              <a:rPr dirty="0" sz="800" spc="17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OF</a:t>
            </a:r>
            <a:r>
              <a:rPr dirty="0" sz="800" spc="17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COMPUTER</a:t>
            </a:r>
            <a:r>
              <a:rPr dirty="0" sz="800" spc="17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SCIENCE</a:t>
            </a:r>
            <a:r>
              <a:rPr dirty="0" sz="800" spc="17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AND</a:t>
            </a:r>
            <a:r>
              <a:rPr dirty="0" sz="800" spc="175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ENGINEERING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61644" y="1804058"/>
            <a:ext cx="3284220" cy="478790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05"/>
              </a:spcBef>
            </a:pPr>
            <a:r>
              <a:rPr dirty="0" sz="1400" spc="45" b="1">
                <a:latin typeface="Arial"/>
                <a:cs typeface="Arial"/>
              </a:rPr>
              <a:t>TRAFFIC</a:t>
            </a:r>
            <a:r>
              <a:rPr dirty="0" sz="1400" spc="2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SIGN</a:t>
            </a:r>
            <a:r>
              <a:rPr dirty="0" sz="1400" spc="2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BOARD</a:t>
            </a:r>
            <a:r>
              <a:rPr dirty="0" sz="1400" spc="240" b="1">
                <a:latin typeface="Arial"/>
                <a:cs typeface="Arial"/>
              </a:rPr>
              <a:t> </a:t>
            </a:r>
            <a:r>
              <a:rPr dirty="0" sz="1400" spc="70" b="1">
                <a:latin typeface="Arial"/>
                <a:cs typeface="Arial"/>
              </a:rPr>
              <a:t>DETECTION</a:t>
            </a:r>
            <a:endParaRPr sz="1400">
              <a:latin typeface="Arial"/>
              <a:cs typeface="Arial"/>
            </a:endParaRPr>
          </a:p>
          <a:p>
            <a:pPr algn="ctr" marL="635">
              <a:lnSpc>
                <a:spcPct val="100000"/>
              </a:lnSpc>
              <a:spcBef>
                <a:spcPts val="300"/>
              </a:spcBef>
            </a:pPr>
            <a:r>
              <a:rPr dirty="0" sz="900" b="1">
                <a:latin typeface="Arial"/>
                <a:cs typeface="Arial"/>
              </a:rPr>
              <a:t>CSE</a:t>
            </a:r>
            <a:r>
              <a:rPr dirty="0" sz="900" spc="-10" b="1">
                <a:latin typeface="Arial"/>
                <a:cs typeface="Arial"/>
              </a:rPr>
              <a:t> 2025-</a:t>
            </a:r>
            <a:r>
              <a:rPr dirty="0" sz="900" spc="-20" b="1">
                <a:latin typeface="Arial"/>
                <a:cs typeface="Arial"/>
              </a:rPr>
              <a:t>2026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92100" y="2519932"/>
            <a:ext cx="1125220" cy="3873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955"/>
              </a:lnSpc>
              <a:spcBef>
                <a:spcPts val="95"/>
              </a:spcBef>
            </a:pPr>
            <a:r>
              <a:rPr dirty="0" sz="800" spc="-30" b="1">
                <a:latin typeface="Arial"/>
                <a:cs typeface="Arial"/>
              </a:rPr>
              <a:t>Guided</a:t>
            </a:r>
            <a:r>
              <a:rPr dirty="0" sz="800" b="1">
                <a:latin typeface="Arial"/>
                <a:cs typeface="Arial"/>
              </a:rPr>
              <a:t> </a:t>
            </a:r>
            <a:r>
              <a:rPr dirty="0" sz="800" spc="-25" b="1">
                <a:latin typeface="Arial"/>
                <a:cs typeface="Arial"/>
              </a:rPr>
              <a:t>By: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944"/>
              </a:lnSpc>
            </a:pPr>
            <a:r>
              <a:rPr dirty="0" sz="800">
                <a:latin typeface="Arial MT"/>
                <a:cs typeface="Arial MT"/>
              </a:rPr>
              <a:t>Mrs.Asiya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U</a:t>
            </a:r>
            <a:r>
              <a:rPr dirty="0" sz="800" spc="30">
                <a:latin typeface="Arial MT"/>
                <a:cs typeface="Arial MT"/>
              </a:rPr>
              <a:t> </a:t>
            </a:r>
            <a:r>
              <a:rPr dirty="0" sz="800" spc="-50">
                <a:latin typeface="Arial MT"/>
                <a:cs typeface="Arial MT"/>
              </a:rPr>
              <a:t>A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ts val="955"/>
              </a:lnSpc>
            </a:pPr>
            <a:r>
              <a:rPr dirty="0" sz="800">
                <a:latin typeface="Arial MT"/>
                <a:cs typeface="Arial MT"/>
              </a:rPr>
              <a:t>Asst.</a:t>
            </a:r>
            <a:r>
              <a:rPr dirty="0" sz="800" spc="15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Prof,</a:t>
            </a:r>
            <a:r>
              <a:rPr dirty="0" sz="800" spc="6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Dept</a:t>
            </a:r>
            <a:r>
              <a:rPr dirty="0" sz="800" spc="6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65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CSE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346502" y="2336482"/>
            <a:ext cx="1822450" cy="698500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800" spc="-10" b="1">
                <a:latin typeface="Arial"/>
                <a:cs typeface="Arial"/>
              </a:rPr>
              <a:t>Project</a:t>
            </a:r>
            <a:r>
              <a:rPr dirty="0" sz="800" spc="1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Team</a:t>
            </a:r>
            <a:r>
              <a:rPr dirty="0" sz="800" spc="10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Members</a:t>
            </a:r>
            <a:endParaRPr sz="800">
              <a:latin typeface="Arial"/>
              <a:cs typeface="Arial"/>
            </a:endParaRPr>
          </a:p>
          <a:p>
            <a:pPr marL="132080" indent="-119380">
              <a:lnSpc>
                <a:spcPts val="955"/>
              </a:lnSpc>
              <a:spcBef>
                <a:spcPts val="270"/>
              </a:spcBef>
              <a:buAutoNum type="arabicPeriod"/>
              <a:tabLst>
                <a:tab pos="132080" algn="l"/>
              </a:tabLst>
            </a:pPr>
            <a:r>
              <a:rPr dirty="0" sz="800">
                <a:latin typeface="Arial MT"/>
                <a:cs typeface="Arial MT"/>
              </a:rPr>
              <a:t>Abil</a:t>
            </a:r>
            <a:r>
              <a:rPr dirty="0" sz="800" spc="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</a:t>
            </a:r>
            <a:r>
              <a:rPr dirty="0" sz="800" spc="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Abdul</a:t>
            </a:r>
            <a:r>
              <a:rPr dirty="0" sz="800" spc="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Samad</a:t>
            </a:r>
            <a:r>
              <a:rPr dirty="0" sz="800" spc="3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-</a:t>
            </a:r>
            <a:r>
              <a:rPr dirty="0" sz="800" spc="-20">
                <a:latin typeface="Arial MT"/>
                <a:cs typeface="Arial MT"/>
              </a:rPr>
              <a:t>SNM23CS006</a:t>
            </a:r>
            <a:endParaRPr sz="800">
              <a:latin typeface="Arial MT"/>
              <a:cs typeface="Arial MT"/>
            </a:endParaRPr>
          </a:p>
          <a:p>
            <a:pPr marL="132080" indent="-119380">
              <a:lnSpc>
                <a:spcPts val="944"/>
              </a:lnSpc>
              <a:buAutoNum type="arabicPeriod"/>
              <a:tabLst>
                <a:tab pos="132080" algn="l"/>
              </a:tabLst>
            </a:pPr>
            <a:r>
              <a:rPr dirty="0" sz="800">
                <a:latin typeface="Arial MT"/>
                <a:cs typeface="Arial MT"/>
              </a:rPr>
              <a:t>Abhinav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-</a:t>
            </a:r>
            <a:r>
              <a:rPr dirty="0" sz="800" spc="-10">
                <a:latin typeface="Arial MT"/>
                <a:cs typeface="Arial MT"/>
              </a:rPr>
              <a:t>SNM23CS005</a:t>
            </a:r>
            <a:endParaRPr sz="800">
              <a:latin typeface="Arial MT"/>
              <a:cs typeface="Arial MT"/>
            </a:endParaRPr>
          </a:p>
          <a:p>
            <a:pPr marL="132080" indent="-119380">
              <a:lnSpc>
                <a:spcPts val="944"/>
              </a:lnSpc>
              <a:buAutoNum type="arabicPeriod"/>
              <a:tabLst>
                <a:tab pos="132080" algn="l"/>
              </a:tabLst>
            </a:pPr>
            <a:r>
              <a:rPr dirty="0" sz="800">
                <a:latin typeface="Arial MT"/>
                <a:cs typeface="Arial MT"/>
              </a:rPr>
              <a:t>Indrajith</a:t>
            </a:r>
            <a:r>
              <a:rPr dirty="0" sz="800" spc="9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</a:t>
            </a:r>
            <a:r>
              <a:rPr dirty="0" sz="800" spc="10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V</a:t>
            </a:r>
            <a:r>
              <a:rPr dirty="0" sz="800" spc="100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-</a:t>
            </a:r>
            <a:r>
              <a:rPr dirty="0" sz="800" spc="-10">
                <a:latin typeface="Arial MT"/>
                <a:cs typeface="Arial MT"/>
              </a:rPr>
              <a:t>SNM23CS026</a:t>
            </a:r>
            <a:endParaRPr sz="800">
              <a:latin typeface="Arial MT"/>
              <a:cs typeface="Arial MT"/>
            </a:endParaRPr>
          </a:p>
          <a:p>
            <a:pPr marL="132080" indent="-119380">
              <a:lnSpc>
                <a:spcPts val="955"/>
              </a:lnSpc>
              <a:buAutoNum type="arabicPeriod"/>
              <a:tabLst>
                <a:tab pos="132080" algn="l"/>
              </a:tabLst>
            </a:pPr>
            <a:r>
              <a:rPr dirty="0" sz="800">
                <a:latin typeface="Arial MT"/>
                <a:cs typeface="Arial MT"/>
              </a:rPr>
              <a:t>Abhinand</a:t>
            </a:r>
            <a:r>
              <a:rPr dirty="0" sz="800" spc="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E</a:t>
            </a:r>
            <a:r>
              <a:rPr dirty="0" sz="800" spc="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V</a:t>
            </a:r>
            <a:r>
              <a:rPr dirty="0" sz="800" spc="315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-</a:t>
            </a:r>
            <a:r>
              <a:rPr dirty="0" sz="800" spc="-10">
                <a:latin typeface="Arial MT"/>
                <a:cs typeface="Arial MT"/>
              </a:rPr>
              <a:t>SNM23CS004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0" y="3357600"/>
            <a:ext cx="4608195" cy="98425"/>
          </a:xfrm>
          <a:custGeom>
            <a:avLst/>
            <a:gdLst/>
            <a:ahLst/>
            <a:cxnLst/>
            <a:rect l="l" t="t" r="r" b="b"/>
            <a:pathLst>
              <a:path w="4608195" h="98425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98399"/>
                </a:lnTo>
                <a:lnTo>
                  <a:pt x="1520647" y="98399"/>
                </a:lnTo>
                <a:lnTo>
                  <a:pt x="3087344" y="98399"/>
                </a:lnTo>
                <a:lnTo>
                  <a:pt x="3087344" y="0"/>
                </a:lnTo>
                <a:close/>
              </a:path>
              <a:path w="4608195" h="98425">
                <a:moveTo>
                  <a:pt x="4608004" y="0"/>
                </a:moveTo>
                <a:lnTo>
                  <a:pt x="3087357" y="0"/>
                </a:lnTo>
                <a:lnTo>
                  <a:pt x="3087357" y="98399"/>
                </a:lnTo>
                <a:lnTo>
                  <a:pt x="4608004" y="98399"/>
                </a:lnTo>
                <a:lnTo>
                  <a:pt x="4608004" y="0"/>
                </a:lnTo>
                <a:close/>
              </a:path>
            </a:pathLst>
          </a:custGeom>
          <a:solidFill>
            <a:srgbClr val="0E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pc="-10"/>
              <a:t>Final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dirty="0" spc="30"/>
              <a:t> </a:t>
            </a:r>
            <a:r>
              <a:rPr dirty="0"/>
              <a:t>23,</a:t>
            </a:r>
            <a:r>
              <a:rPr dirty="0" spc="35"/>
              <a:t> </a:t>
            </a:r>
            <a:r>
              <a:rPr dirty="0" spc="-20"/>
              <a:t>2026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1120">
              <a:lnSpc>
                <a:spcPts val="580"/>
              </a:lnSpc>
            </a:pPr>
            <a:fld id="{81D60167-4931-47E6-BA6A-407CBD079E47}" type="slidenum">
              <a:rPr dirty="0"/>
              <a:t>1</a:t>
            </a:fld>
            <a:r>
              <a:rPr dirty="0" spc="30"/>
              <a:t> </a:t>
            </a:r>
            <a:r>
              <a:rPr dirty="0" spc="125"/>
              <a:t>/</a:t>
            </a:r>
            <a:r>
              <a:rPr dirty="0" spc="30"/>
              <a:t> </a:t>
            </a:r>
            <a:r>
              <a:rPr dirty="0" spc="-25"/>
              <a:t>24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50"/>
              <a:t>CONTENTS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7294" y="512932"/>
            <a:ext cx="1723389" cy="26047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3333B2"/>
                </a:solidFill>
                <a:latin typeface="Tahoma"/>
                <a:cs typeface="Tahoma"/>
                <a:hlinkClick r:id="rId2" action="ppaction://hlinksldjump"/>
              </a:rPr>
              <a:t>ABSTRACT</a:t>
            </a:r>
            <a:endParaRPr sz="1000">
              <a:latin typeface="Tahoma"/>
              <a:cs typeface="Tahoma"/>
            </a:endParaRPr>
          </a:p>
          <a:p>
            <a:pPr marL="12700" marR="5080">
              <a:lnSpc>
                <a:spcPct val="159300"/>
              </a:lnSpc>
            </a:pPr>
            <a:r>
              <a:rPr dirty="0" sz="1000">
                <a:solidFill>
                  <a:srgbClr val="3333B2"/>
                </a:solidFill>
                <a:latin typeface="Tahoma"/>
                <a:cs typeface="Tahoma"/>
                <a:hlinkClick r:id="rId3" action="ppaction://hlinksldjump"/>
              </a:rPr>
              <a:t>EXISTING</a:t>
            </a:r>
            <a:r>
              <a:rPr dirty="0" sz="1000" spc="20">
                <a:solidFill>
                  <a:srgbClr val="3333B2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000" spc="-10">
                <a:solidFill>
                  <a:srgbClr val="3333B2"/>
                </a:solidFill>
                <a:latin typeface="Tahoma"/>
                <a:cs typeface="Tahoma"/>
                <a:hlinkClick r:id="rId3" action="ppaction://hlinksldjump"/>
              </a:rPr>
              <a:t>SYSTEM</a:t>
            </a:r>
            <a:r>
              <a:rPr dirty="0" sz="1000" spc="500">
                <a:solidFill>
                  <a:srgbClr val="3333B2"/>
                </a:solidFill>
                <a:latin typeface="Tahoma"/>
                <a:cs typeface="Tahoma"/>
              </a:rPr>
              <a:t>  </a:t>
            </a:r>
            <a:r>
              <a:rPr dirty="0" sz="1000" spc="10">
                <a:solidFill>
                  <a:srgbClr val="3333B2"/>
                </a:solidFill>
                <a:latin typeface="Tahoma"/>
                <a:cs typeface="Tahoma"/>
                <a:hlinkClick r:id="rId4" action="ppaction://hlinksldjump"/>
              </a:rPr>
              <a:t>PROBLEM</a:t>
            </a:r>
            <a:r>
              <a:rPr dirty="0" sz="1000" spc="280">
                <a:solidFill>
                  <a:srgbClr val="3333B2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1000" spc="-10">
                <a:solidFill>
                  <a:srgbClr val="3333B2"/>
                </a:solidFill>
                <a:latin typeface="Tahoma"/>
                <a:cs typeface="Tahoma"/>
                <a:hlinkClick r:id="rId4" action="ppaction://hlinksldjump"/>
              </a:rPr>
              <a:t>STATEMENT</a:t>
            </a:r>
            <a:r>
              <a:rPr dirty="0" sz="1000" spc="-1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HARDWARE</a:t>
            </a:r>
            <a:r>
              <a:rPr dirty="0" sz="1000" spc="195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1000" spc="-10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REQUIREMENTS</a:t>
            </a:r>
            <a:r>
              <a:rPr dirty="0" sz="1000" spc="-1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333B2"/>
                </a:solidFill>
                <a:latin typeface="Tahoma"/>
                <a:cs typeface="Tahoma"/>
                <a:hlinkClick r:id="rId6" action="ppaction://hlinksldjump"/>
              </a:rPr>
              <a:t>SOFTWARE</a:t>
            </a:r>
            <a:r>
              <a:rPr dirty="0" sz="1000" spc="200">
                <a:solidFill>
                  <a:srgbClr val="3333B2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1000" spc="-10">
                <a:solidFill>
                  <a:srgbClr val="3333B2"/>
                </a:solidFill>
                <a:latin typeface="Tahoma"/>
                <a:cs typeface="Tahoma"/>
                <a:hlinkClick r:id="rId6" action="ppaction://hlinksldjump"/>
              </a:rPr>
              <a:t>REQUIREMENTS</a:t>
            </a:r>
            <a:r>
              <a:rPr dirty="0" sz="1000" spc="-1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ADVANTAGES</a:t>
            </a:r>
            <a:endParaRPr sz="1000">
              <a:latin typeface="Tahoma"/>
              <a:cs typeface="Tahoma"/>
            </a:endParaRPr>
          </a:p>
          <a:p>
            <a:pPr marL="12700" marR="770890">
              <a:lnSpc>
                <a:spcPct val="159300"/>
              </a:lnSpc>
            </a:pPr>
            <a:r>
              <a:rPr dirty="0" sz="1000" spc="-10">
                <a:solidFill>
                  <a:srgbClr val="3333B2"/>
                </a:solidFill>
                <a:latin typeface="Tahoma"/>
                <a:cs typeface="Tahoma"/>
                <a:hlinkClick r:id="rId8" action="ppaction://hlinksldjump"/>
              </a:rPr>
              <a:t>RESULTS</a:t>
            </a:r>
            <a:r>
              <a:rPr dirty="0" sz="1000" spc="-1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3333B2"/>
                </a:solidFill>
                <a:latin typeface="Tahoma"/>
                <a:cs typeface="Tahoma"/>
                <a:hlinkClick r:id="rId9" action="ppaction://hlinksldjump"/>
              </a:rPr>
              <a:t>ANALYSIS</a:t>
            </a:r>
            <a:r>
              <a:rPr dirty="0" sz="1000" spc="-1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333B2"/>
                </a:solidFill>
                <a:latin typeface="Tahoma"/>
                <a:cs typeface="Tahoma"/>
                <a:hlinkClick r:id="rId10" action="ppaction://hlinksldjump"/>
              </a:rPr>
              <a:t>FUTURE</a:t>
            </a:r>
            <a:r>
              <a:rPr dirty="0" sz="1000" spc="229">
                <a:solidFill>
                  <a:srgbClr val="3333B2"/>
                </a:solidFill>
                <a:latin typeface="Tahoma"/>
                <a:cs typeface="Tahoma"/>
                <a:hlinkClick r:id="rId10" action="ppaction://hlinksldjump"/>
              </a:rPr>
              <a:t> </a:t>
            </a:r>
            <a:r>
              <a:rPr dirty="0" sz="1000" spc="-10">
                <a:solidFill>
                  <a:srgbClr val="3333B2"/>
                </a:solidFill>
                <a:latin typeface="Tahoma"/>
                <a:cs typeface="Tahoma"/>
                <a:hlinkClick r:id="rId10" action="ppaction://hlinksldjump"/>
              </a:rPr>
              <a:t>SCOPE</a:t>
            </a:r>
            <a:r>
              <a:rPr dirty="0" sz="1000" spc="-1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3333B2"/>
                </a:solidFill>
                <a:latin typeface="Tahoma"/>
                <a:cs typeface="Tahoma"/>
                <a:hlinkClick r:id="rId11" action="ppaction://hlinksldjump"/>
              </a:rPr>
              <a:t>CONCLUSION</a:t>
            </a:r>
            <a:r>
              <a:rPr dirty="0" sz="1000" spc="-1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3333B2"/>
                </a:solidFill>
                <a:latin typeface="Tahoma"/>
                <a:cs typeface="Tahoma"/>
                <a:hlinkClick r:id="rId12" action="ppaction://hlinksldjump"/>
              </a:rPr>
              <a:t>REFERENCES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0" y="3357600"/>
            <a:ext cx="4608195" cy="98425"/>
          </a:xfrm>
          <a:custGeom>
            <a:avLst/>
            <a:gdLst/>
            <a:ahLst/>
            <a:cxnLst/>
            <a:rect l="l" t="t" r="r" b="b"/>
            <a:pathLst>
              <a:path w="4608195" h="98425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98399"/>
                </a:lnTo>
                <a:lnTo>
                  <a:pt x="1520647" y="98399"/>
                </a:lnTo>
                <a:lnTo>
                  <a:pt x="3087344" y="98399"/>
                </a:lnTo>
                <a:lnTo>
                  <a:pt x="3087344" y="0"/>
                </a:lnTo>
                <a:close/>
              </a:path>
              <a:path w="4608195" h="98425">
                <a:moveTo>
                  <a:pt x="4608004" y="0"/>
                </a:moveTo>
                <a:lnTo>
                  <a:pt x="3087357" y="0"/>
                </a:lnTo>
                <a:lnTo>
                  <a:pt x="3087357" y="98399"/>
                </a:lnTo>
                <a:lnTo>
                  <a:pt x="4608004" y="98399"/>
                </a:lnTo>
                <a:lnTo>
                  <a:pt x="4608004" y="0"/>
                </a:lnTo>
                <a:close/>
              </a:path>
            </a:pathLst>
          </a:custGeom>
          <a:solidFill>
            <a:srgbClr val="0E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pc="-10"/>
              <a:t>Final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dirty="0" spc="30"/>
              <a:t> </a:t>
            </a:r>
            <a:r>
              <a:rPr dirty="0"/>
              <a:t>23,</a:t>
            </a:r>
            <a:r>
              <a:rPr dirty="0" spc="35"/>
              <a:t> </a:t>
            </a:r>
            <a:r>
              <a:rPr dirty="0" spc="-20"/>
              <a:t>2026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1120">
              <a:lnSpc>
                <a:spcPts val="580"/>
              </a:lnSpc>
            </a:pPr>
            <a:fld id="{81D60167-4931-47E6-BA6A-407CBD079E47}" type="slidenum">
              <a:rPr dirty="0"/>
              <a:t>1</a:t>
            </a:fld>
            <a:r>
              <a:rPr dirty="0" spc="30"/>
              <a:t> </a:t>
            </a:r>
            <a:r>
              <a:rPr dirty="0" spc="125"/>
              <a:t>/</a:t>
            </a:r>
            <a:r>
              <a:rPr dirty="0" spc="30"/>
              <a:t> </a:t>
            </a:r>
            <a:r>
              <a:rPr dirty="0" spc="-25"/>
              <a:t>24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65"/>
              <a:t>ABSTRACT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00354" y="630966"/>
            <a:ext cx="3648710" cy="2353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154940" indent="139700">
              <a:lnSpc>
                <a:spcPct val="100000"/>
              </a:lnSpc>
              <a:spcBef>
                <a:spcPts val="95"/>
              </a:spcBef>
              <a:buFont typeface="Lucida Sans Unicode"/>
              <a:buChar char="►"/>
              <a:tabLst>
                <a:tab pos="152400" algn="l"/>
              </a:tabLst>
            </a:pPr>
            <a:r>
              <a:rPr dirty="0" sz="1000" spc="-10" b="1">
                <a:latin typeface="Arial"/>
                <a:cs typeface="Arial"/>
              </a:rPr>
              <a:t>Problem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 spc="-45" b="1">
                <a:latin typeface="Arial"/>
                <a:cs typeface="Arial"/>
              </a:rPr>
              <a:t>Addressed:</a:t>
            </a:r>
            <a:r>
              <a:rPr dirty="0" sz="1000" spc="75" b="1">
                <a:latin typeface="Arial"/>
                <a:cs typeface="Arial"/>
              </a:rPr>
              <a:t> </a:t>
            </a:r>
            <a:r>
              <a:rPr dirty="0" sz="1000" spc="-20">
                <a:latin typeface="Tahoma"/>
                <a:cs typeface="Tahoma"/>
              </a:rPr>
              <a:t>Drivers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often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miss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or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misinterpret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traffic </a:t>
            </a:r>
            <a:r>
              <a:rPr dirty="0" sz="1000" spc="-40">
                <a:latin typeface="Tahoma"/>
                <a:cs typeface="Tahoma"/>
              </a:rPr>
              <a:t>signs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due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human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error,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poor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visibility,</a:t>
            </a:r>
            <a:r>
              <a:rPr dirty="0" sz="1000" spc="-10">
                <a:latin typeface="Tahoma"/>
                <a:cs typeface="Tahoma"/>
              </a:rPr>
              <a:t> or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distraction,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leading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to </a:t>
            </a:r>
            <a:r>
              <a:rPr dirty="0" sz="1000" spc="-10">
                <a:latin typeface="Tahoma"/>
                <a:cs typeface="Tahoma"/>
              </a:rPr>
              <a:t>accidents.</a:t>
            </a:r>
            <a:endParaRPr sz="1000">
              <a:latin typeface="Tahoma"/>
              <a:cs typeface="Tahoma"/>
            </a:endParaRPr>
          </a:p>
          <a:p>
            <a:pPr algn="just" marL="12700" marR="104139" indent="139700">
              <a:lnSpc>
                <a:spcPct val="100000"/>
              </a:lnSpc>
              <a:spcBef>
                <a:spcPts val="985"/>
              </a:spcBef>
              <a:buFont typeface="Lucida Sans Unicode"/>
              <a:buChar char="►"/>
              <a:tabLst>
                <a:tab pos="152400" algn="l"/>
              </a:tabLst>
            </a:pPr>
            <a:r>
              <a:rPr dirty="0" sz="1000" spc="-20" b="1">
                <a:latin typeface="Arial"/>
                <a:cs typeface="Arial"/>
              </a:rPr>
              <a:t>Core</a:t>
            </a:r>
            <a:r>
              <a:rPr dirty="0" sz="1000" spc="25" b="1">
                <a:latin typeface="Arial"/>
                <a:cs typeface="Arial"/>
              </a:rPr>
              <a:t> </a:t>
            </a:r>
            <a:r>
              <a:rPr dirty="0" sz="1000" spc="-35" b="1">
                <a:latin typeface="Arial"/>
                <a:cs typeface="Arial"/>
              </a:rPr>
              <a:t>Technology:</a:t>
            </a:r>
            <a:r>
              <a:rPr dirty="0" sz="1000" spc="85" b="1">
                <a:latin typeface="Arial"/>
                <a:cs typeface="Arial"/>
              </a:rPr>
              <a:t> </a:t>
            </a:r>
            <a:r>
              <a:rPr dirty="0" sz="1000" spc="-30">
                <a:latin typeface="Tahoma"/>
                <a:cs typeface="Tahoma"/>
              </a:rPr>
              <a:t>Uses </a:t>
            </a:r>
            <a:r>
              <a:rPr dirty="0" sz="1000" spc="-25">
                <a:latin typeface="Tahoma"/>
                <a:cs typeface="Tahoma"/>
              </a:rPr>
              <a:t>Convolutional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Neural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Networks </a:t>
            </a:r>
            <a:r>
              <a:rPr dirty="0" sz="1000" spc="-10">
                <a:latin typeface="Tahoma"/>
                <a:cs typeface="Tahoma"/>
              </a:rPr>
              <a:t>(CNN)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OpenCV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-35">
                <a:latin typeface="Tahoma"/>
                <a:cs typeface="Tahoma"/>
              </a:rPr>
              <a:t> real-</a:t>
            </a:r>
            <a:r>
              <a:rPr dirty="0" sz="1000" spc="-20">
                <a:latin typeface="Tahoma"/>
                <a:cs typeface="Tahoma"/>
              </a:rPr>
              <a:t>time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traffic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sign</a:t>
            </a:r>
            <a:r>
              <a:rPr dirty="0" sz="1000" spc="-30">
                <a:latin typeface="Tahoma"/>
                <a:cs typeface="Tahoma"/>
              </a:rPr>
              <a:t> detection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classification.</a:t>
            </a:r>
            <a:endParaRPr sz="1000">
              <a:latin typeface="Tahoma"/>
              <a:cs typeface="Tahoma"/>
            </a:endParaRPr>
          </a:p>
          <a:p>
            <a:pPr marL="12700" marR="76200" indent="139700">
              <a:lnSpc>
                <a:spcPct val="100000"/>
              </a:lnSpc>
              <a:spcBef>
                <a:spcPts val="985"/>
              </a:spcBef>
              <a:buFont typeface="Lucida Sans Unicode"/>
              <a:buChar char="►"/>
              <a:tabLst>
                <a:tab pos="152400" algn="l"/>
              </a:tabLst>
            </a:pPr>
            <a:r>
              <a:rPr dirty="0" sz="1000" spc="-30" b="1">
                <a:latin typeface="Arial"/>
                <a:cs typeface="Arial"/>
              </a:rPr>
              <a:t>Technical</a:t>
            </a:r>
            <a:r>
              <a:rPr dirty="0" sz="1000" spc="55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Implementation:</a:t>
            </a:r>
            <a:r>
              <a:rPr dirty="0" sz="1000" spc="130" b="1">
                <a:latin typeface="Arial"/>
                <a:cs typeface="Arial"/>
              </a:rPr>
              <a:t> </a:t>
            </a:r>
            <a:r>
              <a:rPr dirty="0" sz="1000" spc="60">
                <a:latin typeface="Tahoma"/>
                <a:cs typeface="Tahoma"/>
              </a:rPr>
              <a:t>A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Python-</a:t>
            </a:r>
            <a:r>
              <a:rPr dirty="0" sz="1000" spc="-25">
                <a:latin typeface="Tahoma"/>
                <a:cs typeface="Tahoma"/>
              </a:rPr>
              <a:t>based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system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processes </a:t>
            </a:r>
            <a:r>
              <a:rPr dirty="0" sz="1000" spc="-45">
                <a:latin typeface="Tahoma"/>
                <a:cs typeface="Tahoma"/>
              </a:rPr>
              <a:t>images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from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camera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or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dataset,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applies </a:t>
            </a:r>
            <a:r>
              <a:rPr dirty="0" sz="1000" spc="-45">
                <a:latin typeface="Tahoma"/>
                <a:cs typeface="Tahoma"/>
              </a:rPr>
              <a:t>preprocessing,</a:t>
            </a:r>
            <a:r>
              <a:rPr dirty="0" sz="1000" spc="-25">
                <a:latin typeface="Tahoma"/>
                <a:cs typeface="Tahoma"/>
              </a:rPr>
              <a:t> and </a:t>
            </a:r>
            <a:r>
              <a:rPr dirty="0" sz="1000" spc="-65">
                <a:latin typeface="Tahoma"/>
                <a:cs typeface="Tahoma"/>
              </a:rPr>
              <a:t>uses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a </a:t>
            </a:r>
            <a:r>
              <a:rPr dirty="0" sz="1000" spc="-25">
                <a:latin typeface="Tahoma"/>
                <a:cs typeface="Tahoma"/>
              </a:rPr>
              <a:t>trained</a:t>
            </a:r>
            <a:r>
              <a:rPr dirty="0" sz="1000">
                <a:latin typeface="Tahoma"/>
                <a:cs typeface="Tahoma"/>
              </a:rPr>
              <a:t> CNN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model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classification.</a:t>
            </a:r>
            <a:endParaRPr sz="1000">
              <a:latin typeface="Tahoma"/>
              <a:cs typeface="Tahoma"/>
            </a:endParaRPr>
          </a:p>
          <a:p>
            <a:pPr marL="12700" marR="113664" indent="139700">
              <a:lnSpc>
                <a:spcPct val="100000"/>
              </a:lnSpc>
              <a:spcBef>
                <a:spcPts val="985"/>
              </a:spcBef>
              <a:buFont typeface="Lucida Sans Unicode"/>
              <a:buChar char="►"/>
              <a:tabLst>
                <a:tab pos="152400" algn="l"/>
              </a:tabLst>
            </a:pPr>
            <a:r>
              <a:rPr dirty="0" sz="1000" spc="-10" b="1">
                <a:latin typeface="Arial"/>
                <a:cs typeface="Arial"/>
              </a:rPr>
              <a:t>Primary</a:t>
            </a:r>
            <a:r>
              <a:rPr dirty="0" sz="1000" spc="30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Application:</a:t>
            </a:r>
            <a:r>
              <a:rPr dirty="0" sz="1000" spc="100" b="1">
                <a:latin typeface="Arial"/>
                <a:cs typeface="Arial"/>
              </a:rPr>
              <a:t> </a:t>
            </a:r>
            <a:r>
              <a:rPr dirty="0" sz="1000" spc="-35">
                <a:latin typeface="Tahoma"/>
                <a:cs typeface="Tahoma"/>
              </a:rPr>
              <a:t>Real-</a:t>
            </a:r>
            <a:r>
              <a:rPr dirty="0" sz="1000" spc="-10">
                <a:latin typeface="Tahoma"/>
                <a:cs typeface="Tahoma"/>
              </a:rPr>
              <a:t>time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traffic</a:t>
            </a:r>
            <a:r>
              <a:rPr dirty="0" sz="1000" spc="-25">
                <a:latin typeface="Tahoma"/>
                <a:cs typeface="Tahoma"/>
              </a:rPr>
              <a:t> sign</a:t>
            </a:r>
            <a:r>
              <a:rPr dirty="0" sz="1000" spc="-30">
                <a:latin typeface="Tahoma"/>
                <a:cs typeface="Tahoma"/>
              </a:rPr>
              <a:t> recognition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system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driver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assistance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intelligent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transportation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systems.</a:t>
            </a:r>
            <a:endParaRPr sz="1000">
              <a:latin typeface="Tahoma"/>
              <a:cs typeface="Tahoma"/>
            </a:endParaRPr>
          </a:p>
          <a:p>
            <a:pPr marL="12700" marR="5080" indent="139700">
              <a:lnSpc>
                <a:spcPct val="100000"/>
              </a:lnSpc>
              <a:spcBef>
                <a:spcPts val="985"/>
              </a:spcBef>
              <a:buFont typeface="Lucida Sans Unicode"/>
              <a:buChar char="►"/>
              <a:tabLst>
                <a:tab pos="152400" algn="l"/>
              </a:tabLst>
            </a:pPr>
            <a:r>
              <a:rPr dirty="0" sz="1000" b="1">
                <a:latin typeface="Arial"/>
                <a:cs typeface="Arial"/>
              </a:rPr>
              <a:t>Key</a:t>
            </a:r>
            <a:r>
              <a:rPr dirty="0" sz="1000" spc="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Benefit:</a:t>
            </a:r>
            <a:r>
              <a:rPr dirty="0" sz="1000" spc="90" b="1">
                <a:latin typeface="Arial"/>
                <a:cs typeface="Arial"/>
              </a:rPr>
              <a:t> </a:t>
            </a:r>
            <a:r>
              <a:rPr dirty="0" sz="1000" spc="-25">
                <a:latin typeface="Tahoma"/>
                <a:cs typeface="Tahoma"/>
              </a:rPr>
              <a:t>Provides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automatic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accurate </a:t>
            </a:r>
            <a:r>
              <a:rPr dirty="0" sz="1000" spc="-30">
                <a:latin typeface="Tahoma"/>
                <a:cs typeface="Tahoma"/>
              </a:rPr>
              <a:t>detection </a:t>
            </a:r>
            <a:r>
              <a:rPr dirty="0" sz="1000" spc="-25">
                <a:latin typeface="Tahoma"/>
                <a:cs typeface="Tahoma"/>
              </a:rPr>
              <a:t>of </a:t>
            </a:r>
            <a:r>
              <a:rPr dirty="0" sz="1000" spc="-10">
                <a:latin typeface="Tahoma"/>
                <a:cs typeface="Tahoma"/>
              </a:rPr>
              <a:t>traffic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signs,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improving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road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safety</a:t>
            </a:r>
            <a:r>
              <a:rPr dirty="0" sz="1000" spc="-25">
                <a:latin typeface="Tahoma"/>
                <a:cs typeface="Tahoma"/>
              </a:rPr>
              <a:t> and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reducing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human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dependency.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0" y="3357588"/>
            <a:ext cx="4608195" cy="98425"/>
          </a:xfrm>
          <a:custGeom>
            <a:avLst/>
            <a:gdLst/>
            <a:ahLst/>
            <a:cxnLst/>
            <a:rect l="l" t="t" r="r" b="b"/>
            <a:pathLst>
              <a:path w="4608195" h="98425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98412"/>
                </a:lnTo>
                <a:lnTo>
                  <a:pt x="1520647" y="98412"/>
                </a:lnTo>
                <a:lnTo>
                  <a:pt x="3087344" y="98412"/>
                </a:lnTo>
                <a:lnTo>
                  <a:pt x="3087344" y="0"/>
                </a:lnTo>
                <a:close/>
              </a:path>
              <a:path w="4608195" h="98425">
                <a:moveTo>
                  <a:pt x="4608004" y="0"/>
                </a:moveTo>
                <a:lnTo>
                  <a:pt x="3087357" y="0"/>
                </a:lnTo>
                <a:lnTo>
                  <a:pt x="3087357" y="98412"/>
                </a:lnTo>
                <a:lnTo>
                  <a:pt x="4608004" y="98412"/>
                </a:lnTo>
                <a:lnTo>
                  <a:pt x="4608004" y="0"/>
                </a:lnTo>
                <a:close/>
              </a:path>
            </a:pathLst>
          </a:custGeom>
          <a:solidFill>
            <a:srgbClr val="0E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pc="-10"/>
              <a:t>Final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dirty="0" spc="30"/>
              <a:t> </a:t>
            </a:r>
            <a:r>
              <a:rPr dirty="0"/>
              <a:t>23,</a:t>
            </a:r>
            <a:r>
              <a:rPr dirty="0" spc="35"/>
              <a:t> </a:t>
            </a:r>
            <a:r>
              <a:rPr dirty="0" spc="-20"/>
              <a:t>2026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1120">
              <a:lnSpc>
                <a:spcPts val="580"/>
              </a:lnSpc>
            </a:pPr>
            <a:fld id="{81D60167-4931-47E6-BA6A-407CBD079E47}" type="slidenum">
              <a:rPr dirty="0"/>
              <a:t>1</a:t>
            </a:fld>
            <a:r>
              <a:rPr dirty="0" spc="30"/>
              <a:t> </a:t>
            </a:r>
            <a:r>
              <a:rPr dirty="0" spc="125"/>
              <a:t>/</a:t>
            </a:r>
            <a:r>
              <a:rPr dirty="0" spc="30"/>
              <a:t> </a:t>
            </a:r>
            <a:r>
              <a:rPr dirty="0" spc="-25"/>
              <a:t>24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EXISTING</a:t>
            </a:r>
            <a:r>
              <a:rPr dirty="0" spc="50"/>
              <a:t> </a:t>
            </a:r>
            <a:r>
              <a:rPr dirty="0" spc="65"/>
              <a:t>SYSTEM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00354" y="888801"/>
            <a:ext cx="3609975" cy="17335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88265" indent="139700">
              <a:lnSpc>
                <a:spcPct val="100000"/>
              </a:lnSpc>
              <a:spcBef>
                <a:spcPts val="95"/>
              </a:spcBef>
              <a:buFont typeface="Lucida Sans Unicode"/>
              <a:buChar char="►"/>
              <a:tabLst>
                <a:tab pos="152400" algn="l"/>
              </a:tabLst>
            </a:pPr>
            <a:r>
              <a:rPr dirty="0" sz="1000" b="1">
                <a:latin typeface="Arial"/>
                <a:cs typeface="Arial"/>
              </a:rPr>
              <a:t>Manual</a:t>
            </a:r>
            <a:r>
              <a:rPr dirty="0" sz="1000" spc="20" b="1">
                <a:latin typeface="Arial"/>
                <a:cs typeface="Arial"/>
              </a:rPr>
              <a:t> </a:t>
            </a:r>
            <a:r>
              <a:rPr dirty="0" sz="1000" spc="-30" b="1">
                <a:latin typeface="Arial"/>
                <a:cs typeface="Arial"/>
              </a:rPr>
              <a:t>Observation:</a:t>
            </a:r>
            <a:r>
              <a:rPr dirty="0" sz="1000" spc="90" b="1">
                <a:latin typeface="Arial"/>
                <a:cs typeface="Arial"/>
              </a:rPr>
              <a:t> </a:t>
            </a:r>
            <a:r>
              <a:rPr dirty="0" sz="1000" spc="-20">
                <a:latin typeface="Tahoma"/>
                <a:cs typeface="Tahoma"/>
              </a:rPr>
              <a:t>Drivers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rely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on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visual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observation </a:t>
            </a:r>
            <a:r>
              <a:rPr dirty="0" sz="1000" spc="-20">
                <a:latin typeface="Tahoma"/>
                <a:cs typeface="Tahoma"/>
              </a:rPr>
              <a:t>which can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lead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errors.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Lucida Sans Unicode"/>
              <a:buChar char="►"/>
            </a:pPr>
            <a:endParaRPr sz="1000">
              <a:latin typeface="Tahoma"/>
              <a:cs typeface="Tahoma"/>
            </a:endParaRPr>
          </a:p>
          <a:p>
            <a:pPr marL="12700" marR="340360" indent="139700">
              <a:lnSpc>
                <a:spcPct val="100000"/>
              </a:lnSpc>
              <a:buFont typeface="Lucida Sans Unicode"/>
              <a:buChar char="►"/>
              <a:tabLst>
                <a:tab pos="152400" algn="l"/>
              </a:tabLst>
            </a:pPr>
            <a:r>
              <a:rPr dirty="0" sz="1000" spc="-30" b="1">
                <a:latin typeface="Arial"/>
                <a:cs typeface="Arial"/>
              </a:rPr>
              <a:t>Basic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Camera</a:t>
            </a:r>
            <a:r>
              <a:rPr dirty="0" sz="1000" spc="10" b="1">
                <a:latin typeface="Arial"/>
                <a:cs typeface="Arial"/>
              </a:rPr>
              <a:t> </a:t>
            </a:r>
            <a:r>
              <a:rPr dirty="0" sz="1000" spc="-45" b="1">
                <a:latin typeface="Arial"/>
                <a:cs typeface="Arial"/>
              </a:rPr>
              <a:t>Systems:</a:t>
            </a:r>
            <a:r>
              <a:rPr dirty="0" sz="1000" spc="65" b="1">
                <a:latin typeface="Arial"/>
                <a:cs typeface="Arial"/>
              </a:rPr>
              <a:t> </a:t>
            </a:r>
            <a:r>
              <a:rPr dirty="0" sz="1000" spc="-40">
                <a:latin typeface="Tahoma"/>
                <a:cs typeface="Tahoma"/>
              </a:rPr>
              <a:t>Cameras</a:t>
            </a:r>
            <a:r>
              <a:rPr dirty="0" sz="1000" spc="-35">
                <a:latin typeface="Tahoma"/>
                <a:cs typeface="Tahoma"/>
              </a:rPr>
              <a:t> record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data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but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do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not </a:t>
            </a:r>
            <a:r>
              <a:rPr dirty="0" sz="1000" spc="-35">
                <a:latin typeface="Tahoma"/>
                <a:cs typeface="Tahoma"/>
              </a:rPr>
              <a:t>provide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automated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detection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or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alerts.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Lucida Sans Unicode"/>
              <a:buChar char="►"/>
            </a:pPr>
            <a:endParaRPr sz="1000">
              <a:latin typeface="Tahoma"/>
              <a:cs typeface="Tahoma"/>
            </a:endParaRPr>
          </a:p>
          <a:p>
            <a:pPr marL="12700" marR="5080" indent="139700">
              <a:lnSpc>
                <a:spcPct val="100000"/>
              </a:lnSpc>
              <a:spcBef>
                <a:spcPts val="5"/>
              </a:spcBef>
              <a:buFont typeface="Lucida Sans Unicode"/>
              <a:buChar char="►"/>
              <a:tabLst>
                <a:tab pos="152400" algn="l"/>
              </a:tabLst>
            </a:pPr>
            <a:r>
              <a:rPr dirty="0" sz="1000" spc="-20" b="1">
                <a:latin typeface="Arial"/>
                <a:cs typeface="Arial"/>
              </a:rPr>
              <a:t>Traditional</a:t>
            </a:r>
            <a:r>
              <a:rPr dirty="0" sz="1000" spc="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Image</a:t>
            </a:r>
            <a:r>
              <a:rPr dirty="0" sz="1000" spc="15" b="1">
                <a:latin typeface="Arial"/>
                <a:cs typeface="Arial"/>
              </a:rPr>
              <a:t> </a:t>
            </a:r>
            <a:r>
              <a:rPr dirty="0" sz="1000" spc="-45" b="1">
                <a:latin typeface="Arial"/>
                <a:cs typeface="Arial"/>
              </a:rPr>
              <a:t>Processing:</a:t>
            </a:r>
            <a:r>
              <a:rPr dirty="0" sz="1000" spc="80" b="1">
                <a:latin typeface="Arial"/>
                <a:cs typeface="Arial"/>
              </a:rPr>
              <a:t> </a:t>
            </a:r>
            <a:r>
              <a:rPr dirty="0" sz="1000" spc="-10">
                <a:latin typeface="Tahoma"/>
                <a:cs typeface="Tahoma"/>
              </a:rPr>
              <a:t>Older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methods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lack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accuracy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in </a:t>
            </a:r>
            <a:r>
              <a:rPr dirty="0" sz="1000" spc="-30">
                <a:latin typeface="Tahoma"/>
                <a:cs typeface="Tahoma"/>
              </a:rPr>
              <a:t>complex </a:t>
            </a:r>
            <a:r>
              <a:rPr dirty="0" sz="1000" spc="-10">
                <a:latin typeface="Tahoma"/>
                <a:cs typeface="Tahoma"/>
              </a:rPr>
              <a:t>environments.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Lucida Sans Unicode"/>
              <a:buChar char="►"/>
            </a:pPr>
            <a:endParaRPr sz="1000">
              <a:latin typeface="Tahoma"/>
              <a:cs typeface="Tahoma"/>
            </a:endParaRPr>
          </a:p>
          <a:p>
            <a:pPr marL="12700" marR="253365" indent="139700">
              <a:lnSpc>
                <a:spcPct val="100000"/>
              </a:lnSpc>
              <a:buFont typeface="Lucida Sans Unicode"/>
              <a:buChar char="►"/>
              <a:tabLst>
                <a:tab pos="152400" algn="l"/>
              </a:tabLst>
            </a:pPr>
            <a:r>
              <a:rPr dirty="0" sz="1000" b="1">
                <a:latin typeface="Arial"/>
                <a:cs typeface="Arial"/>
              </a:rPr>
              <a:t>No</a:t>
            </a:r>
            <a:r>
              <a:rPr dirty="0" sz="1000" spc="4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Real-</a:t>
            </a:r>
            <a:r>
              <a:rPr dirty="0" sz="1000" b="1">
                <a:latin typeface="Arial"/>
                <a:cs typeface="Arial"/>
              </a:rPr>
              <a:t>Time</a:t>
            </a:r>
            <a:r>
              <a:rPr dirty="0" sz="1000" spc="45" b="1">
                <a:latin typeface="Arial"/>
                <a:cs typeface="Arial"/>
              </a:rPr>
              <a:t> </a:t>
            </a:r>
            <a:r>
              <a:rPr dirty="0" sz="1000" spc="-50" b="1">
                <a:latin typeface="Arial"/>
                <a:cs typeface="Arial"/>
              </a:rPr>
              <a:t>Assistance:</a:t>
            </a:r>
            <a:r>
              <a:rPr dirty="0" sz="1000" spc="114" b="1">
                <a:latin typeface="Arial"/>
                <a:cs typeface="Arial"/>
              </a:rPr>
              <a:t> </a:t>
            </a:r>
            <a:r>
              <a:rPr dirty="0" sz="1000" spc="-10">
                <a:latin typeface="Tahoma"/>
                <a:cs typeface="Tahoma"/>
              </a:rPr>
              <a:t>Existing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systems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fail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provide </a:t>
            </a:r>
            <a:r>
              <a:rPr dirty="0" sz="1000" spc="-20">
                <a:latin typeface="Tahoma"/>
                <a:cs typeface="Tahoma"/>
              </a:rPr>
              <a:t>instant </a:t>
            </a:r>
            <a:r>
              <a:rPr dirty="0" sz="1000" spc="-40">
                <a:latin typeface="Tahoma"/>
                <a:cs typeface="Tahoma"/>
              </a:rPr>
              <a:t>feedback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drivers.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0" y="3357588"/>
            <a:ext cx="4608195" cy="98425"/>
          </a:xfrm>
          <a:custGeom>
            <a:avLst/>
            <a:gdLst/>
            <a:ahLst/>
            <a:cxnLst/>
            <a:rect l="l" t="t" r="r" b="b"/>
            <a:pathLst>
              <a:path w="4608195" h="98425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98412"/>
                </a:lnTo>
                <a:lnTo>
                  <a:pt x="1520647" y="98412"/>
                </a:lnTo>
                <a:lnTo>
                  <a:pt x="3087344" y="98412"/>
                </a:lnTo>
                <a:lnTo>
                  <a:pt x="3087344" y="0"/>
                </a:lnTo>
                <a:close/>
              </a:path>
              <a:path w="4608195" h="98425">
                <a:moveTo>
                  <a:pt x="4608004" y="0"/>
                </a:moveTo>
                <a:lnTo>
                  <a:pt x="3087357" y="0"/>
                </a:lnTo>
                <a:lnTo>
                  <a:pt x="3087357" y="98412"/>
                </a:lnTo>
                <a:lnTo>
                  <a:pt x="4608004" y="98412"/>
                </a:lnTo>
                <a:lnTo>
                  <a:pt x="4608004" y="0"/>
                </a:lnTo>
                <a:close/>
              </a:path>
            </a:pathLst>
          </a:custGeom>
          <a:solidFill>
            <a:srgbClr val="0E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pc="-10"/>
              <a:t>Final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dirty="0" spc="30"/>
              <a:t> </a:t>
            </a:r>
            <a:r>
              <a:rPr dirty="0"/>
              <a:t>23,</a:t>
            </a:r>
            <a:r>
              <a:rPr dirty="0" spc="35"/>
              <a:t> </a:t>
            </a:r>
            <a:r>
              <a:rPr dirty="0" spc="-20"/>
              <a:t>2026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1120">
              <a:lnSpc>
                <a:spcPts val="580"/>
              </a:lnSpc>
            </a:pPr>
            <a:fld id="{81D60167-4931-47E6-BA6A-407CBD079E47}" type="slidenum">
              <a:rPr dirty="0"/>
              <a:t>1</a:t>
            </a:fld>
            <a:r>
              <a:rPr dirty="0" spc="30"/>
              <a:t> </a:t>
            </a:r>
            <a:r>
              <a:rPr dirty="0" spc="125"/>
              <a:t>/</a:t>
            </a:r>
            <a:r>
              <a:rPr dirty="0" spc="30"/>
              <a:t> </a:t>
            </a:r>
            <a:r>
              <a:rPr dirty="0" spc="-25"/>
              <a:t>24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EXISTING</a:t>
            </a:r>
            <a:r>
              <a:rPr dirty="0" spc="35"/>
              <a:t> </a:t>
            </a:r>
            <a:r>
              <a:rPr dirty="0" spc="75"/>
              <a:t>SYSTEM</a:t>
            </a:r>
            <a:r>
              <a:rPr dirty="0" spc="45"/>
              <a:t> </a:t>
            </a:r>
            <a:r>
              <a:rPr dirty="0" spc="-10"/>
              <a:t>DEMERITS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00354" y="1000422"/>
            <a:ext cx="3529965" cy="14300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2400" indent="-139700">
              <a:lnSpc>
                <a:spcPct val="100000"/>
              </a:lnSpc>
              <a:spcBef>
                <a:spcPts val="95"/>
              </a:spcBef>
              <a:buFont typeface="Lucida Sans Unicode"/>
              <a:buChar char="►"/>
              <a:tabLst>
                <a:tab pos="152400" algn="l"/>
              </a:tabLst>
            </a:pPr>
            <a:r>
              <a:rPr dirty="0" sz="1000" b="1">
                <a:latin typeface="Arial"/>
                <a:cs typeface="Arial"/>
              </a:rPr>
              <a:t>Human </a:t>
            </a:r>
            <a:r>
              <a:rPr dirty="0" sz="1000" spc="-10" b="1">
                <a:latin typeface="Arial"/>
                <a:cs typeface="Arial"/>
              </a:rPr>
              <a:t>Error:</a:t>
            </a:r>
            <a:r>
              <a:rPr dirty="0" sz="1000" spc="70" b="1">
                <a:latin typeface="Arial"/>
                <a:cs typeface="Arial"/>
              </a:rPr>
              <a:t> </a:t>
            </a:r>
            <a:r>
              <a:rPr dirty="0" sz="1000" spc="-20">
                <a:latin typeface="Tahoma"/>
                <a:cs typeface="Tahoma"/>
              </a:rPr>
              <a:t>Drivers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may </a:t>
            </a:r>
            <a:r>
              <a:rPr dirty="0" sz="1000" spc="-30">
                <a:latin typeface="Tahoma"/>
                <a:cs typeface="Tahoma"/>
              </a:rPr>
              <a:t>miss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important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traffic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signs.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Lucida Sans Unicode"/>
              <a:buChar char="►"/>
            </a:pPr>
            <a:endParaRPr sz="1000">
              <a:latin typeface="Tahoma"/>
              <a:cs typeface="Tahoma"/>
            </a:endParaRPr>
          </a:p>
          <a:p>
            <a:pPr marL="12700" marR="5080" indent="139700">
              <a:lnSpc>
                <a:spcPct val="100000"/>
              </a:lnSpc>
              <a:spcBef>
                <a:spcPts val="5"/>
              </a:spcBef>
              <a:buFont typeface="Lucida Sans Unicode"/>
              <a:buChar char="►"/>
              <a:tabLst>
                <a:tab pos="152400" algn="l"/>
              </a:tabLst>
            </a:pPr>
            <a:r>
              <a:rPr dirty="0" sz="1000" spc="-25" b="1">
                <a:latin typeface="Arial"/>
                <a:cs typeface="Arial"/>
              </a:rPr>
              <a:t>Low</a:t>
            </a:r>
            <a:r>
              <a:rPr dirty="0" sz="1000" spc="25" b="1">
                <a:latin typeface="Arial"/>
                <a:cs typeface="Arial"/>
              </a:rPr>
              <a:t> </a:t>
            </a:r>
            <a:r>
              <a:rPr dirty="0" sz="1000" spc="-35" b="1">
                <a:latin typeface="Arial"/>
                <a:cs typeface="Arial"/>
              </a:rPr>
              <a:t>Accuracy:</a:t>
            </a:r>
            <a:r>
              <a:rPr dirty="0" sz="1000" spc="95" b="1">
                <a:latin typeface="Arial"/>
                <a:cs typeface="Arial"/>
              </a:rPr>
              <a:t> </a:t>
            </a:r>
            <a:r>
              <a:rPr dirty="0" sz="1000" spc="-20">
                <a:latin typeface="Tahoma"/>
                <a:cs typeface="Tahoma"/>
              </a:rPr>
              <a:t>Traditional</a:t>
            </a:r>
            <a:r>
              <a:rPr dirty="0" sz="1000" spc="-35">
                <a:latin typeface="Tahoma"/>
                <a:cs typeface="Tahoma"/>
              </a:rPr>
              <a:t> methods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fail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under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poor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lighting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or </a:t>
            </a:r>
            <a:r>
              <a:rPr dirty="0" sz="1000" spc="-55">
                <a:latin typeface="Tahoma"/>
                <a:cs typeface="Tahoma"/>
              </a:rPr>
              <a:t>weather</a:t>
            </a:r>
            <a:r>
              <a:rPr dirty="0" sz="1000" spc="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conditions.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Lucida Sans Unicode"/>
              <a:buChar char="►"/>
            </a:pPr>
            <a:endParaRPr sz="1000">
              <a:latin typeface="Tahoma"/>
              <a:cs typeface="Tahoma"/>
            </a:endParaRPr>
          </a:p>
          <a:p>
            <a:pPr marL="152400" indent="-139700">
              <a:lnSpc>
                <a:spcPct val="100000"/>
              </a:lnSpc>
              <a:spcBef>
                <a:spcPts val="5"/>
              </a:spcBef>
              <a:buFont typeface="Lucida Sans Unicode"/>
              <a:buChar char="►"/>
              <a:tabLst>
                <a:tab pos="152400" algn="l"/>
              </a:tabLst>
            </a:pPr>
            <a:r>
              <a:rPr dirty="0" sz="1000" b="1">
                <a:latin typeface="Arial"/>
                <a:cs typeface="Arial"/>
              </a:rPr>
              <a:t>No</a:t>
            </a:r>
            <a:r>
              <a:rPr dirty="0" sz="1000" spc="3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Automation:</a:t>
            </a:r>
            <a:r>
              <a:rPr dirty="0" sz="1000" spc="100" b="1">
                <a:latin typeface="Arial"/>
                <a:cs typeface="Arial"/>
              </a:rPr>
              <a:t> </a:t>
            </a:r>
            <a:r>
              <a:rPr dirty="0" sz="1000" spc="-40">
                <a:latin typeface="Tahoma"/>
                <a:cs typeface="Tahoma"/>
              </a:rPr>
              <a:t>Requires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manual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monitoring.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Lucida Sans Unicode"/>
              <a:buChar char="►"/>
            </a:pPr>
            <a:endParaRPr sz="1000">
              <a:latin typeface="Tahoma"/>
              <a:cs typeface="Tahoma"/>
            </a:endParaRPr>
          </a:p>
          <a:p>
            <a:pPr marL="12700" marR="315595" indent="139700">
              <a:lnSpc>
                <a:spcPct val="100000"/>
              </a:lnSpc>
              <a:buFont typeface="Lucida Sans Unicode"/>
              <a:buChar char="►"/>
              <a:tabLst>
                <a:tab pos="152400" algn="l"/>
              </a:tabLst>
            </a:pPr>
            <a:r>
              <a:rPr dirty="0" sz="1000" spc="-10" b="1">
                <a:latin typeface="Arial"/>
                <a:cs typeface="Arial"/>
              </a:rPr>
              <a:t>Limited</a:t>
            </a:r>
            <a:r>
              <a:rPr dirty="0" sz="1000" spc="35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Scalability:</a:t>
            </a:r>
            <a:r>
              <a:rPr dirty="0" sz="1000" spc="105" b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Not</a:t>
            </a:r>
            <a:r>
              <a:rPr dirty="0" sz="1000" spc="-25">
                <a:latin typeface="Tahoma"/>
                <a:cs typeface="Tahoma"/>
              </a:rPr>
              <a:t> suitable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real-</a:t>
            </a:r>
            <a:r>
              <a:rPr dirty="0" sz="1000" spc="-20">
                <a:latin typeface="Tahoma"/>
                <a:cs typeface="Tahoma"/>
              </a:rPr>
              <a:t>time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intelligent </a:t>
            </a:r>
            <a:r>
              <a:rPr dirty="0" sz="1000" spc="-10">
                <a:latin typeface="Tahoma"/>
                <a:cs typeface="Tahoma"/>
              </a:rPr>
              <a:t>systems.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0" y="3357588"/>
            <a:ext cx="4608195" cy="98425"/>
          </a:xfrm>
          <a:custGeom>
            <a:avLst/>
            <a:gdLst/>
            <a:ahLst/>
            <a:cxnLst/>
            <a:rect l="l" t="t" r="r" b="b"/>
            <a:pathLst>
              <a:path w="4608195" h="98425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98412"/>
                </a:lnTo>
                <a:lnTo>
                  <a:pt x="1520647" y="98412"/>
                </a:lnTo>
                <a:lnTo>
                  <a:pt x="3087344" y="98412"/>
                </a:lnTo>
                <a:lnTo>
                  <a:pt x="3087344" y="0"/>
                </a:lnTo>
                <a:close/>
              </a:path>
              <a:path w="4608195" h="98425">
                <a:moveTo>
                  <a:pt x="4608004" y="0"/>
                </a:moveTo>
                <a:lnTo>
                  <a:pt x="3087357" y="0"/>
                </a:lnTo>
                <a:lnTo>
                  <a:pt x="3087357" y="98412"/>
                </a:lnTo>
                <a:lnTo>
                  <a:pt x="4608004" y="98412"/>
                </a:lnTo>
                <a:lnTo>
                  <a:pt x="4608004" y="0"/>
                </a:lnTo>
                <a:close/>
              </a:path>
            </a:pathLst>
          </a:custGeom>
          <a:solidFill>
            <a:srgbClr val="0E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pc="-10"/>
              <a:t>Final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dirty="0" spc="30"/>
              <a:t> </a:t>
            </a:r>
            <a:r>
              <a:rPr dirty="0"/>
              <a:t>23,</a:t>
            </a:r>
            <a:r>
              <a:rPr dirty="0" spc="35"/>
              <a:t> </a:t>
            </a:r>
            <a:r>
              <a:rPr dirty="0" spc="-20"/>
              <a:t>2026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1120">
              <a:lnSpc>
                <a:spcPts val="580"/>
              </a:lnSpc>
            </a:pPr>
            <a:fld id="{81D60167-4931-47E6-BA6A-407CBD079E47}" type="slidenum">
              <a:rPr dirty="0"/>
              <a:t>1</a:t>
            </a:fld>
            <a:r>
              <a:rPr dirty="0" spc="30"/>
              <a:t> </a:t>
            </a:r>
            <a:r>
              <a:rPr dirty="0" spc="125"/>
              <a:t>/</a:t>
            </a:r>
            <a:r>
              <a:rPr dirty="0" spc="30"/>
              <a:t> </a:t>
            </a:r>
            <a:r>
              <a:rPr dirty="0" spc="-25"/>
              <a:t>24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75"/>
              <a:t>PROBLEM</a:t>
            </a:r>
            <a:r>
              <a:rPr dirty="0" spc="45"/>
              <a:t> STATEMENT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00354" y="1258537"/>
            <a:ext cx="3651250" cy="784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Tahoma"/>
                <a:cs typeface="Tahoma"/>
              </a:rPr>
              <a:t>Road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accidents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often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occur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due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missed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or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misinterpreted</a:t>
            </a:r>
            <a:r>
              <a:rPr dirty="0" sz="1000" spc="-10">
                <a:latin typeface="Tahoma"/>
                <a:cs typeface="Tahoma"/>
              </a:rPr>
              <a:t> traffic </a:t>
            </a:r>
            <a:r>
              <a:rPr dirty="0" sz="1000" spc="-25">
                <a:latin typeface="Tahoma"/>
                <a:cs typeface="Tahoma"/>
              </a:rPr>
              <a:t>signs.</a:t>
            </a:r>
            <a:r>
              <a:rPr dirty="0" sz="1000" spc="5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Existing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systems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lack</a:t>
            </a:r>
            <a:r>
              <a:rPr dirty="0" sz="1000" spc="-35">
                <a:latin typeface="Tahoma"/>
                <a:cs typeface="Tahoma"/>
              </a:rPr>
              <a:t> real-</a:t>
            </a:r>
            <a:r>
              <a:rPr dirty="0" sz="1000" spc="-20">
                <a:latin typeface="Tahoma"/>
                <a:cs typeface="Tahoma"/>
              </a:rPr>
              <a:t>time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detection and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accuracy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under </a:t>
            </a:r>
            <a:r>
              <a:rPr dirty="0" sz="1000" spc="-35">
                <a:latin typeface="Tahoma"/>
                <a:cs typeface="Tahoma"/>
              </a:rPr>
              <a:t>varying </a:t>
            </a:r>
            <a:r>
              <a:rPr dirty="0" sz="1000" spc="-40">
                <a:latin typeface="Tahoma"/>
                <a:cs typeface="Tahoma"/>
              </a:rPr>
              <a:t>environmental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conditions.</a:t>
            </a:r>
            <a:r>
              <a:rPr dirty="0" sz="1000" spc="7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There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60">
                <a:latin typeface="Tahoma"/>
                <a:cs typeface="Tahoma"/>
              </a:rPr>
              <a:t>need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AI-</a:t>
            </a:r>
            <a:r>
              <a:rPr dirty="0" sz="1000" spc="-10">
                <a:latin typeface="Tahoma"/>
                <a:cs typeface="Tahoma"/>
              </a:rPr>
              <a:t>based </a:t>
            </a:r>
            <a:r>
              <a:rPr dirty="0" sz="1000" spc="-45">
                <a:latin typeface="Tahoma"/>
                <a:cs typeface="Tahoma"/>
              </a:rPr>
              <a:t>system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that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can</a:t>
            </a:r>
            <a:r>
              <a:rPr dirty="0" sz="1000" spc="-25">
                <a:latin typeface="Tahoma"/>
                <a:cs typeface="Tahoma"/>
              </a:rPr>
              <a:t> automatically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detect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 classify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traffic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signs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20">
                <a:latin typeface="Tahoma"/>
                <a:cs typeface="Tahoma"/>
              </a:rPr>
              <a:t> real </a:t>
            </a:r>
            <a:r>
              <a:rPr dirty="0" sz="1000" spc="-10">
                <a:latin typeface="Tahoma"/>
                <a:cs typeface="Tahoma"/>
              </a:rPr>
              <a:t>time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 </a:t>
            </a:r>
            <a:r>
              <a:rPr dirty="0" sz="1000" spc="-30">
                <a:latin typeface="Tahoma"/>
                <a:cs typeface="Tahoma"/>
              </a:rPr>
              <a:t>assist drivers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safer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decision-</a:t>
            </a:r>
            <a:r>
              <a:rPr dirty="0" sz="1000" spc="-10">
                <a:latin typeface="Tahoma"/>
                <a:cs typeface="Tahoma"/>
              </a:rPr>
              <a:t>making.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0" y="3357588"/>
            <a:ext cx="4608195" cy="98425"/>
          </a:xfrm>
          <a:custGeom>
            <a:avLst/>
            <a:gdLst/>
            <a:ahLst/>
            <a:cxnLst/>
            <a:rect l="l" t="t" r="r" b="b"/>
            <a:pathLst>
              <a:path w="4608195" h="98425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98412"/>
                </a:lnTo>
                <a:lnTo>
                  <a:pt x="1520647" y="98412"/>
                </a:lnTo>
                <a:lnTo>
                  <a:pt x="3087344" y="98412"/>
                </a:lnTo>
                <a:lnTo>
                  <a:pt x="3087344" y="0"/>
                </a:lnTo>
                <a:close/>
              </a:path>
              <a:path w="4608195" h="98425">
                <a:moveTo>
                  <a:pt x="4608004" y="0"/>
                </a:moveTo>
                <a:lnTo>
                  <a:pt x="3087357" y="0"/>
                </a:lnTo>
                <a:lnTo>
                  <a:pt x="3087357" y="98412"/>
                </a:lnTo>
                <a:lnTo>
                  <a:pt x="4608004" y="98412"/>
                </a:lnTo>
                <a:lnTo>
                  <a:pt x="4608004" y="0"/>
                </a:lnTo>
                <a:close/>
              </a:path>
            </a:pathLst>
          </a:custGeom>
          <a:solidFill>
            <a:srgbClr val="0E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pc="-10"/>
              <a:t>Final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dirty="0" spc="30"/>
              <a:t> </a:t>
            </a:r>
            <a:r>
              <a:rPr dirty="0"/>
              <a:t>23,</a:t>
            </a:r>
            <a:r>
              <a:rPr dirty="0" spc="35"/>
              <a:t> </a:t>
            </a:r>
            <a:r>
              <a:rPr dirty="0" spc="-20"/>
              <a:t>2026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1120">
              <a:lnSpc>
                <a:spcPts val="580"/>
              </a:lnSpc>
            </a:pPr>
            <a:fld id="{81D60167-4931-47E6-BA6A-407CBD079E47}" type="slidenum">
              <a:rPr dirty="0"/>
              <a:t>1</a:t>
            </a:fld>
            <a:r>
              <a:rPr dirty="0" spc="30"/>
              <a:t> </a:t>
            </a:r>
            <a:r>
              <a:rPr dirty="0" spc="125"/>
              <a:t>/</a:t>
            </a:r>
            <a:r>
              <a:rPr dirty="0" spc="30"/>
              <a:t> </a:t>
            </a:r>
            <a:r>
              <a:rPr dirty="0" spc="-25"/>
              <a:t>24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59878"/>
            <a:ext cx="280035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50">
                <a:solidFill>
                  <a:srgbClr val="FFFFFF"/>
                </a:solidFill>
                <a:latin typeface="Tahoma"/>
                <a:cs typeface="Tahoma"/>
              </a:rPr>
              <a:t>PROPOSED</a:t>
            </a:r>
            <a:r>
              <a:rPr dirty="0" sz="1400" spc="-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75">
                <a:solidFill>
                  <a:srgbClr val="FFFFFF"/>
                </a:solidFill>
                <a:latin typeface="Tahoma"/>
                <a:cs typeface="Tahoma"/>
              </a:rPr>
              <a:t>SYSTEM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 :</a:t>
            </a:r>
            <a:r>
              <a:rPr dirty="0" sz="1400" spc="-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Architecture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444915"/>
            <a:ext cx="4608195" cy="3011170"/>
            <a:chOff x="0" y="444915"/>
            <a:chExt cx="4608195" cy="301117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2750" y="444915"/>
              <a:ext cx="1883208" cy="2915936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0" y="3357588"/>
              <a:ext cx="4608195" cy="98425"/>
            </a:xfrm>
            <a:custGeom>
              <a:avLst/>
              <a:gdLst/>
              <a:ahLst/>
              <a:cxnLst/>
              <a:rect l="l" t="t" r="r" b="b"/>
              <a:pathLst>
                <a:path w="4608195" h="98425">
                  <a:moveTo>
                    <a:pt x="3087344" y="0"/>
                  </a:moveTo>
                  <a:lnTo>
                    <a:pt x="1520647" y="0"/>
                  </a:lnTo>
                  <a:lnTo>
                    <a:pt x="0" y="0"/>
                  </a:lnTo>
                  <a:lnTo>
                    <a:pt x="0" y="98412"/>
                  </a:lnTo>
                  <a:lnTo>
                    <a:pt x="1520647" y="98412"/>
                  </a:lnTo>
                  <a:lnTo>
                    <a:pt x="3087344" y="98412"/>
                  </a:lnTo>
                  <a:lnTo>
                    <a:pt x="3087344" y="0"/>
                  </a:lnTo>
                  <a:close/>
                </a:path>
                <a:path w="4608195" h="98425">
                  <a:moveTo>
                    <a:pt x="4608004" y="0"/>
                  </a:moveTo>
                  <a:lnTo>
                    <a:pt x="3087357" y="0"/>
                  </a:lnTo>
                  <a:lnTo>
                    <a:pt x="3087357" y="98412"/>
                  </a:lnTo>
                  <a:lnTo>
                    <a:pt x="4608004" y="98412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0E7F7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pc="-10"/>
              <a:t>Final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dirty="0" spc="30"/>
              <a:t> </a:t>
            </a:r>
            <a:r>
              <a:rPr dirty="0"/>
              <a:t>23,</a:t>
            </a:r>
            <a:r>
              <a:rPr dirty="0" spc="35"/>
              <a:t> </a:t>
            </a:r>
            <a:r>
              <a:rPr dirty="0" spc="-20"/>
              <a:t>2026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1120">
              <a:lnSpc>
                <a:spcPts val="580"/>
              </a:lnSpc>
            </a:pPr>
            <a:fld id="{81D60167-4931-47E6-BA6A-407CBD079E47}" type="slidenum">
              <a:rPr dirty="0"/>
              <a:t>1</a:t>
            </a:fld>
            <a:r>
              <a:rPr dirty="0" spc="30"/>
              <a:t> </a:t>
            </a:r>
            <a:r>
              <a:rPr dirty="0" spc="125"/>
              <a:t>/</a:t>
            </a:r>
            <a:r>
              <a:rPr dirty="0" spc="30"/>
              <a:t> </a:t>
            </a:r>
            <a:r>
              <a:rPr dirty="0" spc="-25"/>
              <a:t>24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50"/>
              <a:t>PROPOSED</a:t>
            </a:r>
            <a:r>
              <a:rPr dirty="0" spc="200"/>
              <a:t> </a:t>
            </a:r>
            <a:r>
              <a:rPr dirty="0"/>
              <a:t>SYSTEM:</a:t>
            </a:r>
            <a:r>
              <a:rPr dirty="0" spc="204"/>
              <a:t> </a:t>
            </a:r>
            <a:r>
              <a:rPr dirty="0" spc="-10"/>
              <a:t>ALGORITHM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00354" y="400677"/>
            <a:ext cx="3660775" cy="280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296545" indent="139700">
              <a:lnSpc>
                <a:spcPct val="100000"/>
              </a:lnSpc>
              <a:spcBef>
                <a:spcPts val="95"/>
              </a:spcBef>
              <a:buFont typeface="Lucida Sans Unicode"/>
              <a:buChar char="►"/>
              <a:tabLst>
                <a:tab pos="152400" algn="l"/>
              </a:tabLst>
            </a:pPr>
            <a:r>
              <a:rPr dirty="0" sz="1000" b="1">
                <a:latin typeface="Arial"/>
                <a:cs typeface="Arial"/>
              </a:rPr>
              <a:t>Step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1:</a:t>
            </a:r>
            <a:r>
              <a:rPr dirty="0" sz="1000" spc="114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Image</a:t>
            </a:r>
            <a:r>
              <a:rPr dirty="0" sz="1000" spc="2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Capture:</a:t>
            </a:r>
            <a:r>
              <a:rPr dirty="0" sz="1000" spc="80" b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The</a:t>
            </a:r>
            <a:r>
              <a:rPr dirty="0" sz="1000" spc="-45">
                <a:latin typeface="Tahoma"/>
                <a:cs typeface="Tahoma"/>
              </a:rPr>
              <a:t> system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captures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road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images using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camera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or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takes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input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from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dataset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processing.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Lucida Sans Unicode"/>
              <a:buChar char="►"/>
            </a:pPr>
            <a:endParaRPr sz="1000">
              <a:latin typeface="Tahoma"/>
              <a:cs typeface="Tahoma"/>
            </a:endParaRPr>
          </a:p>
          <a:p>
            <a:pPr marL="12700" marR="5080" indent="139065">
              <a:lnSpc>
                <a:spcPct val="100000"/>
              </a:lnSpc>
              <a:buFont typeface="Lucida Sans Unicode"/>
              <a:buChar char="►"/>
              <a:tabLst>
                <a:tab pos="151765" algn="l"/>
              </a:tabLst>
            </a:pPr>
            <a:r>
              <a:rPr dirty="0" sz="1000" b="1">
                <a:latin typeface="Arial"/>
                <a:cs typeface="Arial"/>
              </a:rPr>
              <a:t>Step</a:t>
            </a:r>
            <a:r>
              <a:rPr dirty="0" sz="1000" spc="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2:</a:t>
            </a:r>
            <a:r>
              <a:rPr dirty="0" sz="1000" spc="1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Image</a:t>
            </a:r>
            <a:r>
              <a:rPr dirty="0" sz="1000" spc="25" b="1">
                <a:latin typeface="Arial"/>
                <a:cs typeface="Arial"/>
              </a:rPr>
              <a:t> </a:t>
            </a:r>
            <a:r>
              <a:rPr dirty="0" sz="1000" spc="-50" b="1">
                <a:latin typeface="Arial"/>
                <a:cs typeface="Arial"/>
              </a:rPr>
              <a:t>Preprocessing:</a:t>
            </a:r>
            <a:r>
              <a:rPr dirty="0" sz="1000" spc="95" b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The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captured </a:t>
            </a:r>
            <a:r>
              <a:rPr dirty="0" sz="1000" spc="-45">
                <a:latin typeface="Tahoma"/>
                <a:cs typeface="Tahoma"/>
              </a:rPr>
              <a:t>image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is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resized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to </a:t>
            </a:r>
            <a:r>
              <a:rPr dirty="0" sz="1000">
                <a:latin typeface="Tahoma"/>
                <a:cs typeface="Tahoma"/>
              </a:rPr>
              <a:t>a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standard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size,</a:t>
            </a:r>
            <a:r>
              <a:rPr dirty="0" sz="1000" spc="-35">
                <a:latin typeface="Tahoma"/>
                <a:cs typeface="Tahoma"/>
              </a:rPr>
              <a:t> normalized,</a:t>
            </a:r>
            <a:r>
              <a:rPr dirty="0" sz="1000" spc="-30">
                <a:latin typeface="Tahoma"/>
                <a:cs typeface="Tahoma"/>
              </a:rPr>
              <a:t> and </a:t>
            </a:r>
            <a:r>
              <a:rPr dirty="0" sz="1000" spc="-40">
                <a:latin typeface="Tahoma"/>
                <a:cs typeface="Tahoma"/>
              </a:rPr>
              <a:t>cleaned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by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removing noise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to improve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image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quality.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Lucida Sans Unicode"/>
              <a:buChar char="►"/>
            </a:pPr>
            <a:endParaRPr sz="1000">
              <a:latin typeface="Tahoma"/>
              <a:cs typeface="Tahoma"/>
            </a:endParaRPr>
          </a:p>
          <a:p>
            <a:pPr marL="12700" marR="83820" indent="139700">
              <a:lnSpc>
                <a:spcPct val="100000"/>
              </a:lnSpc>
              <a:buFont typeface="Lucida Sans Unicode"/>
              <a:buChar char="►"/>
              <a:tabLst>
                <a:tab pos="152400" algn="l"/>
              </a:tabLst>
            </a:pPr>
            <a:r>
              <a:rPr dirty="0" sz="1000" b="1">
                <a:latin typeface="Arial"/>
                <a:cs typeface="Arial"/>
              </a:rPr>
              <a:t>Step</a:t>
            </a:r>
            <a:r>
              <a:rPr dirty="0" sz="1000" spc="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3:</a:t>
            </a:r>
            <a:r>
              <a:rPr dirty="0" sz="1000" spc="140" b="1">
                <a:latin typeface="Arial"/>
                <a:cs typeface="Arial"/>
              </a:rPr>
              <a:t> </a:t>
            </a:r>
            <a:r>
              <a:rPr dirty="0" sz="1000" spc="-30" b="1">
                <a:latin typeface="Arial"/>
                <a:cs typeface="Arial"/>
              </a:rPr>
              <a:t>Region</a:t>
            </a:r>
            <a:r>
              <a:rPr dirty="0" sz="1000" spc="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of</a:t>
            </a:r>
            <a:r>
              <a:rPr dirty="0" sz="1000" spc="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Interest</a:t>
            </a:r>
            <a:r>
              <a:rPr dirty="0" sz="1000" spc="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(ROI)</a:t>
            </a:r>
            <a:r>
              <a:rPr dirty="0" sz="1000" spc="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Detection:</a:t>
            </a:r>
            <a:r>
              <a:rPr dirty="0" sz="1000" spc="100" b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The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system </a:t>
            </a:r>
            <a:r>
              <a:rPr dirty="0" sz="1000" spc="-25">
                <a:latin typeface="Tahoma"/>
                <a:cs typeface="Tahoma"/>
              </a:rPr>
              <a:t>identifies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extracts </a:t>
            </a:r>
            <a:r>
              <a:rPr dirty="0" sz="1000" spc="-20">
                <a:latin typeface="Tahoma"/>
                <a:cs typeface="Tahoma"/>
              </a:rPr>
              <a:t>the</a:t>
            </a:r>
            <a:r>
              <a:rPr dirty="0" sz="1000" spc="-25">
                <a:latin typeface="Tahoma"/>
                <a:cs typeface="Tahoma"/>
              </a:rPr>
              <a:t> specific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area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image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60">
                <a:latin typeface="Tahoma"/>
                <a:cs typeface="Tahoma"/>
              </a:rPr>
              <a:t>where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traffic </a:t>
            </a:r>
            <a:r>
              <a:rPr dirty="0" sz="1000" spc="-25">
                <a:latin typeface="Tahoma"/>
                <a:cs typeface="Tahoma"/>
              </a:rPr>
              <a:t>sign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is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likely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present.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Lucida Sans Unicode"/>
              <a:buChar char="►"/>
            </a:pPr>
            <a:endParaRPr sz="1000">
              <a:latin typeface="Tahoma"/>
              <a:cs typeface="Tahoma"/>
            </a:endParaRPr>
          </a:p>
          <a:p>
            <a:pPr algn="just" marL="12700" marR="87630" indent="139700">
              <a:lnSpc>
                <a:spcPct val="100000"/>
              </a:lnSpc>
              <a:spcBef>
                <a:spcPts val="5"/>
              </a:spcBef>
              <a:buFont typeface="Lucida Sans Unicode"/>
              <a:buChar char="►"/>
              <a:tabLst>
                <a:tab pos="152400" algn="l"/>
              </a:tabLst>
            </a:pPr>
            <a:r>
              <a:rPr dirty="0" sz="1000" b="1">
                <a:latin typeface="Arial"/>
                <a:cs typeface="Arial"/>
              </a:rPr>
              <a:t>Step</a:t>
            </a:r>
            <a:r>
              <a:rPr dirty="0" sz="1000" spc="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4:</a:t>
            </a:r>
            <a:r>
              <a:rPr dirty="0" sz="1000" spc="12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Feature</a:t>
            </a:r>
            <a:r>
              <a:rPr dirty="0" sz="1000" spc="2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Extraction:</a:t>
            </a:r>
            <a:r>
              <a:rPr dirty="0" sz="1000" spc="90" b="1">
                <a:latin typeface="Arial"/>
                <a:cs typeface="Arial"/>
              </a:rPr>
              <a:t> </a:t>
            </a:r>
            <a:r>
              <a:rPr dirty="0" sz="1000" spc="-35">
                <a:latin typeface="Tahoma"/>
                <a:cs typeface="Tahoma"/>
              </a:rPr>
              <a:t>Important </a:t>
            </a:r>
            <a:r>
              <a:rPr dirty="0" sz="1000" spc="-25">
                <a:latin typeface="Tahoma"/>
                <a:cs typeface="Tahoma"/>
              </a:rPr>
              <a:t>visual</a:t>
            </a:r>
            <a:r>
              <a:rPr dirty="0" sz="1000" spc="-40">
                <a:latin typeface="Tahoma"/>
                <a:cs typeface="Tahoma"/>
              </a:rPr>
              <a:t> features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such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as </a:t>
            </a:r>
            <a:r>
              <a:rPr dirty="0" sz="1000" spc="-50">
                <a:latin typeface="Tahoma"/>
                <a:cs typeface="Tahoma"/>
              </a:rPr>
              <a:t>edges,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shapes,</a:t>
            </a:r>
            <a:r>
              <a:rPr dirty="0" sz="1000" spc="-30">
                <a:latin typeface="Tahoma"/>
                <a:cs typeface="Tahoma"/>
              </a:rPr>
              <a:t> colors, </a:t>
            </a:r>
            <a:r>
              <a:rPr dirty="0" sz="1000" spc="-25">
                <a:latin typeface="Tahoma"/>
                <a:cs typeface="Tahoma"/>
              </a:rPr>
              <a:t>and </a:t>
            </a:r>
            <a:r>
              <a:rPr dirty="0" sz="1000" spc="-30">
                <a:latin typeface="Tahoma"/>
                <a:cs typeface="Tahoma"/>
              </a:rPr>
              <a:t>patterns </a:t>
            </a:r>
            <a:r>
              <a:rPr dirty="0" sz="1000" spc="-50">
                <a:latin typeface="Tahoma"/>
                <a:cs typeface="Tahoma"/>
              </a:rPr>
              <a:t>are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extracted </a:t>
            </a:r>
            <a:r>
              <a:rPr dirty="0" sz="1000" spc="-20">
                <a:latin typeface="Tahoma"/>
                <a:cs typeface="Tahoma"/>
              </a:rPr>
              <a:t>from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detected </a:t>
            </a:r>
            <a:r>
              <a:rPr dirty="0" sz="1000" spc="-35">
                <a:latin typeface="Tahoma"/>
                <a:cs typeface="Tahoma"/>
              </a:rPr>
              <a:t>region</a:t>
            </a:r>
            <a:r>
              <a:rPr dirty="0" sz="1000" spc="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using</a:t>
            </a:r>
            <a:r>
              <a:rPr dirty="0" sz="1000" spc="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CNN</a:t>
            </a:r>
            <a:r>
              <a:rPr dirty="0" sz="1000" spc="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layers.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Lucida Sans Unicode"/>
              <a:buChar char="►"/>
            </a:pPr>
            <a:endParaRPr sz="1000">
              <a:latin typeface="Tahoma"/>
              <a:cs typeface="Tahoma"/>
            </a:endParaRPr>
          </a:p>
          <a:p>
            <a:pPr marL="12700" marR="52705" indent="139700">
              <a:lnSpc>
                <a:spcPct val="100000"/>
              </a:lnSpc>
              <a:spcBef>
                <a:spcPts val="5"/>
              </a:spcBef>
              <a:buFont typeface="Lucida Sans Unicode"/>
              <a:buChar char="►"/>
              <a:tabLst>
                <a:tab pos="152400" algn="l"/>
              </a:tabLst>
            </a:pPr>
            <a:r>
              <a:rPr dirty="0" sz="1000" b="1">
                <a:latin typeface="Arial"/>
                <a:cs typeface="Arial"/>
              </a:rPr>
              <a:t>Step</a:t>
            </a:r>
            <a:r>
              <a:rPr dirty="0" sz="1000" spc="6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5:</a:t>
            </a:r>
            <a:r>
              <a:rPr dirty="0" sz="1000" spc="17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CNN</a:t>
            </a:r>
            <a:r>
              <a:rPr dirty="0" sz="1000" spc="60" b="1">
                <a:latin typeface="Arial"/>
                <a:cs typeface="Arial"/>
              </a:rPr>
              <a:t> </a:t>
            </a:r>
            <a:r>
              <a:rPr dirty="0" sz="1000" spc="-40" b="1">
                <a:latin typeface="Arial"/>
                <a:cs typeface="Arial"/>
              </a:rPr>
              <a:t>Classification:</a:t>
            </a:r>
            <a:r>
              <a:rPr dirty="0" sz="1000" spc="130" b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The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extracted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features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are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passed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trained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CNN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model,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which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classifies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the traffic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sign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into </a:t>
            </a:r>
            <a:r>
              <a:rPr dirty="0" sz="1000" spc="-45">
                <a:latin typeface="Tahoma"/>
                <a:cs typeface="Tahoma"/>
              </a:rPr>
              <a:t>predefined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categories.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0" y="3357588"/>
            <a:ext cx="4608195" cy="98425"/>
          </a:xfrm>
          <a:custGeom>
            <a:avLst/>
            <a:gdLst/>
            <a:ahLst/>
            <a:cxnLst/>
            <a:rect l="l" t="t" r="r" b="b"/>
            <a:pathLst>
              <a:path w="4608195" h="98425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98412"/>
                </a:lnTo>
                <a:lnTo>
                  <a:pt x="1520647" y="98412"/>
                </a:lnTo>
                <a:lnTo>
                  <a:pt x="3087344" y="98412"/>
                </a:lnTo>
                <a:lnTo>
                  <a:pt x="3087344" y="0"/>
                </a:lnTo>
                <a:close/>
              </a:path>
              <a:path w="4608195" h="98425">
                <a:moveTo>
                  <a:pt x="4608004" y="0"/>
                </a:moveTo>
                <a:lnTo>
                  <a:pt x="3087357" y="0"/>
                </a:lnTo>
                <a:lnTo>
                  <a:pt x="3087357" y="98412"/>
                </a:lnTo>
                <a:lnTo>
                  <a:pt x="4608004" y="98412"/>
                </a:lnTo>
                <a:lnTo>
                  <a:pt x="4608004" y="0"/>
                </a:lnTo>
                <a:close/>
              </a:path>
            </a:pathLst>
          </a:custGeom>
          <a:solidFill>
            <a:srgbClr val="0E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613054" y="3388065"/>
            <a:ext cx="925194" cy="1320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85"/>
              </a:lnSpc>
            </a:pPr>
            <a:r>
              <a:rPr dirty="0" sz="1000">
                <a:latin typeface="Lucida Sans Unicode"/>
                <a:cs typeface="Lucida Sans Unicode"/>
              </a:rPr>
              <a:t>▶</a:t>
            </a:r>
            <a:r>
              <a:rPr dirty="0" sz="1000" spc="-35">
                <a:latin typeface="Lucida Sans Unicode"/>
                <a:cs typeface="Lucida Sans Unicode"/>
              </a:rPr>
              <a:t> </a:t>
            </a:r>
            <a:r>
              <a:rPr dirty="0" sz="1000" b="1">
                <a:latin typeface="Arial"/>
                <a:cs typeface="Arial"/>
              </a:rPr>
              <a:t>Step</a:t>
            </a:r>
            <a:r>
              <a:rPr dirty="0" sz="1000" spc="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6:</a:t>
            </a:r>
            <a:r>
              <a:rPr dirty="0" sz="1000" spc="140" b="1">
                <a:latin typeface="Arial"/>
                <a:cs typeface="Arial"/>
              </a:rPr>
              <a:t> </a:t>
            </a:r>
            <a:r>
              <a:rPr dirty="0" sz="1000" spc="-45" b="1">
                <a:latin typeface="Arial"/>
                <a:cs typeface="Arial"/>
              </a:rPr>
              <a:t>Confi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538053" y="3389264"/>
            <a:ext cx="1567180" cy="1308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75"/>
              </a:lnSpc>
            </a:pPr>
            <a:r>
              <a:rPr dirty="0" sz="1000" spc="-40" b="1">
                <a:latin typeface="Arial"/>
                <a:cs typeface="Arial"/>
              </a:rPr>
              <a:t>Score</a:t>
            </a:r>
            <a:r>
              <a:rPr dirty="0" sz="1000" spc="25" b="1">
                <a:latin typeface="Arial"/>
                <a:cs typeface="Arial"/>
              </a:rPr>
              <a:t> </a:t>
            </a:r>
            <a:r>
              <a:rPr dirty="0" sz="1000" spc="-30" b="1">
                <a:latin typeface="Arial"/>
                <a:cs typeface="Arial"/>
              </a:rPr>
              <a:t>Calculation:</a:t>
            </a:r>
            <a:r>
              <a:rPr dirty="0" sz="1000" spc="95" b="1">
                <a:latin typeface="Arial"/>
                <a:cs typeface="Arial"/>
              </a:rPr>
              <a:t> </a:t>
            </a:r>
            <a:r>
              <a:rPr dirty="0" sz="1000" spc="-10590">
                <a:latin typeface="Tahoma"/>
                <a:cs typeface="Tahoma"/>
              </a:rPr>
              <a:t>T</a:t>
            </a:r>
            <a:r>
              <a:rPr dirty="0" sz="1000" spc="145" b="1">
                <a:latin typeface="Arial"/>
                <a:cs typeface="Arial"/>
              </a:rPr>
              <a:t>dence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105230" y="3391920"/>
            <a:ext cx="1074420" cy="1282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55"/>
              </a:lnSpc>
            </a:pPr>
            <a:r>
              <a:rPr dirty="0" sz="1000" spc="-45">
                <a:latin typeface="Tahoma"/>
                <a:cs typeface="Tahoma"/>
              </a:rPr>
              <a:t>system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20">
                <a:latin typeface="Tahoma"/>
                <a:cs typeface="Tahoma"/>
              </a:rPr>
              <a:t>calculate</a:t>
            </a:r>
            <a:r>
              <a:rPr dirty="0" sz="1000" spc="-9080">
                <a:latin typeface="Tahoma"/>
                <a:cs typeface="Tahoma"/>
              </a:rPr>
              <a:t>s</a:t>
            </a:r>
            <a:r>
              <a:rPr dirty="0" sz="1000" spc="20">
                <a:latin typeface="Tahoma"/>
                <a:cs typeface="Tahoma"/>
              </a:rPr>
              <a:t>he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pc="-10"/>
              <a:t>Final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dirty="0" spc="30"/>
              <a:t> </a:t>
            </a:r>
            <a:r>
              <a:rPr dirty="0"/>
              <a:t>23,</a:t>
            </a:r>
            <a:r>
              <a:rPr dirty="0" spc="35"/>
              <a:t> </a:t>
            </a:r>
            <a:r>
              <a:rPr dirty="0" spc="-20"/>
              <a:t>2026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1120">
              <a:lnSpc>
                <a:spcPts val="580"/>
              </a:lnSpc>
            </a:pPr>
            <a:fld id="{81D60167-4931-47E6-BA6A-407CBD079E47}" type="slidenum">
              <a:rPr dirty="0"/>
              <a:t>8</a:t>
            </a:fld>
            <a:r>
              <a:rPr dirty="0" spc="30"/>
              <a:t> </a:t>
            </a:r>
            <a:r>
              <a:rPr dirty="0" spc="125"/>
              <a:t>/</a:t>
            </a:r>
            <a:r>
              <a:rPr dirty="0" spc="30"/>
              <a:t> </a:t>
            </a:r>
            <a:r>
              <a:rPr dirty="0" spc="-25"/>
              <a:t>24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50"/>
              <a:t>PROPOSED</a:t>
            </a:r>
            <a:r>
              <a:rPr dirty="0" spc="200"/>
              <a:t> </a:t>
            </a:r>
            <a:r>
              <a:rPr dirty="0"/>
              <a:t>SYSTEM:</a:t>
            </a:r>
            <a:r>
              <a:rPr dirty="0" spc="204"/>
              <a:t> </a:t>
            </a:r>
            <a:r>
              <a:rPr dirty="0" spc="-10"/>
              <a:t>DATASET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00354" y="509503"/>
            <a:ext cx="3632200" cy="26574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64135" indent="139700">
              <a:lnSpc>
                <a:spcPct val="100000"/>
              </a:lnSpc>
              <a:spcBef>
                <a:spcPts val="95"/>
              </a:spcBef>
              <a:buFont typeface="Lucida Sans Unicode"/>
              <a:buChar char="►"/>
              <a:tabLst>
                <a:tab pos="152400" algn="l"/>
              </a:tabLst>
            </a:pPr>
            <a:r>
              <a:rPr dirty="0" sz="1000" spc="-10" b="1">
                <a:latin typeface="Arial"/>
                <a:cs typeface="Arial"/>
              </a:rPr>
              <a:t>Traffic</a:t>
            </a:r>
            <a:r>
              <a:rPr dirty="0" sz="1000" spc="15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Sign</a:t>
            </a:r>
            <a:r>
              <a:rPr dirty="0" sz="1000" spc="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Dataset:</a:t>
            </a:r>
            <a:r>
              <a:rPr dirty="0" sz="1000" spc="80" b="1">
                <a:latin typeface="Arial"/>
                <a:cs typeface="Arial"/>
              </a:rPr>
              <a:t> </a:t>
            </a:r>
            <a:r>
              <a:rPr dirty="0" sz="1000" spc="-30">
                <a:latin typeface="Tahoma"/>
                <a:cs typeface="Tahoma"/>
              </a:rPr>
              <a:t>Uses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labeled</a:t>
            </a:r>
            <a:r>
              <a:rPr dirty="0" sz="1000" spc="-40">
                <a:latin typeface="Tahoma"/>
                <a:cs typeface="Tahoma"/>
              </a:rPr>
              <a:t> datasets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like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GTSRB </a:t>
            </a:r>
            <a:r>
              <a:rPr dirty="0" sz="1000" spc="-25">
                <a:latin typeface="Tahoma"/>
                <a:cs typeface="Tahoma"/>
              </a:rPr>
              <a:t>containing </a:t>
            </a:r>
            <a:r>
              <a:rPr dirty="0" sz="1000" spc="-45">
                <a:latin typeface="Tahoma"/>
                <a:cs typeface="Tahoma"/>
              </a:rPr>
              <a:t>images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real-</a:t>
            </a:r>
            <a:r>
              <a:rPr dirty="0" sz="1000" spc="-35">
                <a:latin typeface="Tahoma"/>
                <a:cs typeface="Tahoma"/>
              </a:rPr>
              <a:t>world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traffic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signs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under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different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lighting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conditions.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Lucida Sans Unicode"/>
              <a:buChar char="►"/>
            </a:pPr>
            <a:endParaRPr sz="1000">
              <a:latin typeface="Tahoma"/>
              <a:cs typeface="Tahoma"/>
            </a:endParaRPr>
          </a:p>
          <a:p>
            <a:pPr marL="12700" marR="5080" indent="139700">
              <a:lnSpc>
                <a:spcPct val="100000"/>
              </a:lnSpc>
              <a:buFont typeface="Lucida Sans Unicode"/>
              <a:buChar char="►"/>
              <a:tabLst>
                <a:tab pos="152400" algn="l"/>
              </a:tabLst>
            </a:pPr>
            <a:r>
              <a:rPr dirty="0" sz="1000" b="1">
                <a:latin typeface="Arial"/>
                <a:cs typeface="Arial"/>
              </a:rPr>
              <a:t>Multiple</a:t>
            </a:r>
            <a:r>
              <a:rPr dirty="0" sz="1000" spc="55" b="1">
                <a:latin typeface="Arial"/>
                <a:cs typeface="Arial"/>
              </a:rPr>
              <a:t> </a:t>
            </a:r>
            <a:r>
              <a:rPr dirty="0" sz="1000" spc="-35" b="1">
                <a:latin typeface="Arial"/>
                <a:cs typeface="Arial"/>
              </a:rPr>
              <a:t>Categories:</a:t>
            </a:r>
            <a:r>
              <a:rPr dirty="0" sz="1000" spc="130" b="1">
                <a:latin typeface="Arial"/>
                <a:cs typeface="Arial"/>
              </a:rPr>
              <a:t> </a:t>
            </a:r>
            <a:r>
              <a:rPr dirty="0" sz="1000" spc="-55">
                <a:latin typeface="Tahoma"/>
                <a:cs typeface="Tahoma"/>
              </a:rPr>
              <a:t>Includes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different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classes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such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as</a:t>
            </a:r>
            <a:r>
              <a:rPr dirty="0" sz="1000" spc="-10">
                <a:latin typeface="Tahoma"/>
                <a:cs typeface="Tahoma"/>
              </a:rPr>
              <a:t> warning </a:t>
            </a:r>
            <a:r>
              <a:rPr dirty="0" sz="1000" spc="-35">
                <a:latin typeface="Tahoma"/>
                <a:cs typeface="Tahoma"/>
              </a:rPr>
              <a:t>signs,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speed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limits,</a:t>
            </a:r>
            <a:r>
              <a:rPr dirty="0" sz="1000" spc="-25">
                <a:latin typeface="Tahoma"/>
                <a:cs typeface="Tahoma"/>
              </a:rPr>
              <a:t> prohibition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signs,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 </a:t>
            </a:r>
            <a:r>
              <a:rPr dirty="0" sz="1000" spc="-40">
                <a:latin typeface="Tahoma"/>
                <a:cs typeface="Tahoma"/>
              </a:rPr>
              <a:t>mandatory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signs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better </a:t>
            </a:r>
            <a:r>
              <a:rPr dirty="0" sz="1000" spc="-25">
                <a:latin typeface="Tahoma"/>
                <a:cs typeface="Tahoma"/>
              </a:rPr>
              <a:t>classification</a:t>
            </a:r>
            <a:r>
              <a:rPr dirty="0" sz="1000" spc="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coverage.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Lucida Sans Unicode"/>
              <a:buChar char="►"/>
            </a:pPr>
            <a:endParaRPr sz="1000">
              <a:latin typeface="Tahoma"/>
              <a:cs typeface="Tahoma"/>
            </a:endParaRPr>
          </a:p>
          <a:p>
            <a:pPr marL="12700" marR="123825" indent="139700">
              <a:lnSpc>
                <a:spcPct val="100000"/>
              </a:lnSpc>
              <a:buFont typeface="Lucida Sans Unicode"/>
              <a:buChar char="►"/>
              <a:tabLst>
                <a:tab pos="152400" algn="l"/>
              </a:tabLst>
            </a:pPr>
            <a:r>
              <a:rPr dirty="0" sz="1000" spc="-20" b="1">
                <a:latin typeface="Arial"/>
                <a:cs typeface="Arial"/>
              </a:rPr>
              <a:t>Training</a:t>
            </a:r>
            <a:r>
              <a:rPr dirty="0" sz="1000" spc="6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Data:</a:t>
            </a:r>
            <a:r>
              <a:rPr dirty="0" sz="1000" spc="140" b="1">
                <a:latin typeface="Arial"/>
                <a:cs typeface="Arial"/>
              </a:rPr>
              <a:t> </a:t>
            </a:r>
            <a:r>
              <a:rPr dirty="0" sz="1000" spc="-75">
                <a:latin typeface="Tahoma"/>
                <a:cs typeface="Tahoma"/>
              </a:rPr>
              <a:t>Images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used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train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</a:t>
            </a:r>
            <a:r>
              <a:rPr dirty="0" sz="1000">
                <a:latin typeface="Tahoma"/>
                <a:cs typeface="Tahoma"/>
              </a:rPr>
              <a:t> CNN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model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so</a:t>
            </a:r>
            <a:r>
              <a:rPr dirty="0" sz="1000">
                <a:latin typeface="Tahoma"/>
                <a:cs typeface="Tahoma"/>
              </a:rPr>
              <a:t> it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can </a:t>
            </a:r>
            <a:r>
              <a:rPr dirty="0" sz="1000" spc="-35">
                <a:latin typeface="Tahoma"/>
                <a:cs typeface="Tahoma"/>
              </a:rPr>
              <a:t>learn </a:t>
            </a:r>
            <a:r>
              <a:rPr dirty="0" sz="1000" spc="-20">
                <a:latin typeface="Tahoma"/>
                <a:cs typeface="Tahoma"/>
              </a:rPr>
              <a:t>important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features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like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shape,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color,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symbols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traffic signs.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Lucida Sans Unicode"/>
              <a:buChar char="►"/>
            </a:pPr>
            <a:endParaRPr sz="1000">
              <a:latin typeface="Tahoma"/>
              <a:cs typeface="Tahoma"/>
            </a:endParaRPr>
          </a:p>
          <a:p>
            <a:pPr marL="12700" marR="314325" indent="139700">
              <a:lnSpc>
                <a:spcPct val="100000"/>
              </a:lnSpc>
              <a:buFont typeface="Lucida Sans Unicode"/>
              <a:buChar char="►"/>
              <a:tabLst>
                <a:tab pos="152400" algn="l"/>
              </a:tabLst>
            </a:pPr>
            <a:r>
              <a:rPr dirty="0" sz="1000" spc="-25" b="1">
                <a:latin typeface="Arial"/>
                <a:cs typeface="Arial"/>
              </a:rPr>
              <a:t>Testing</a:t>
            </a:r>
            <a:r>
              <a:rPr dirty="0" sz="1000" spc="4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Data:</a:t>
            </a:r>
            <a:r>
              <a:rPr dirty="0" sz="1000" spc="114" b="1">
                <a:latin typeface="Arial"/>
                <a:cs typeface="Arial"/>
              </a:rPr>
              <a:t> </a:t>
            </a:r>
            <a:r>
              <a:rPr dirty="0" sz="1000" spc="-40">
                <a:latin typeface="Tahoma"/>
                <a:cs typeface="Tahoma"/>
              </a:rPr>
              <a:t>Separate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set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images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used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evaluate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the </a:t>
            </a:r>
            <a:r>
              <a:rPr dirty="0" sz="1000" spc="-20">
                <a:latin typeface="Tahoma"/>
                <a:cs typeface="Tahoma"/>
              </a:rPr>
              <a:t>model’s </a:t>
            </a:r>
            <a:r>
              <a:rPr dirty="0" sz="1000" spc="-30">
                <a:latin typeface="Tahoma"/>
                <a:cs typeface="Tahoma"/>
              </a:rPr>
              <a:t>accuracy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60">
                <a:latin typeface="Tahoma"/>
                <a:cs typeface="Tahoma"/>
              </a:rPr>
              <a:t>ensure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it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performs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well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on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65">
                <a:latin typeface="Tahoma"/>
                <a:cs typeface="Tahoma"/>
              </a:rPr>
              <a:t>unseen</a:t>
            </a:r>
            <a:r>
              <a:rPr dirty="0" sz="1000" spc="-10">
                <a:latin typeface="Tahoma"/>
                <a:cs typeface="Tahoma"/>
              </a:rPr>
              <a:t> data.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Lucida Sans Unicode"/>
              <a:buChar char="►"/>
            </a:pPr>
            <a:endParaRPr sz="1000">
              <a:latin typeface="Tahoma"/>
              <a:cs typeface="Tahoma"/>
            </a:endParaRPr>
          </a:p>
          <a:p>
            <a:pPr marL="12700" marR="296545" indent="139700">
              <a:lnSpc>
                <a:spcPct val="100000"/>
              </a:lnSpc>
              <a:spcBef>
                <a:spcPts val="5"/>
              </a:spcBef>
              <a:buFont typeface="Lucida Sans Unicode"/>
              <a:buChar char="►"/>
              <a:tabLst>
                <a:tab pos="152400" algn="l"/>
              </a:tabLst>
            </a:pPr>
            <a:r>
              <a:rPr dirty="0" sz="1000" b="1">
                <a:latin typeface="Arial"/>
                <a:cs typeface="Arial"/>
              </a:rPr>
              <a:t>Data</a:t>
            </a:r>
            <a:r>
              <a:rPr dirty="0" sz="1000" spc="60" b="1">
                <a:latin typeface="Arial"/>
                <a:cs typeface="Arial"/>
              </a:rPr>
              <a:t> </a:t>
            </a:r>
            <a:r>
              <a:rPr dirty="0" sz="1000" spc="-50" b="1">
                <a:latin typeface="Arial"/>
                <a:cs typeface="Arial"/>
              </a:rPr>
              <a:t>Preprocessing:</a:t>
            </a:r>
            <a:r>
              <a:rPr dirty="0" sz="1000" spc="135" b="1">
                <a:latin typeface="Arial"/>
                <a:cs typeface="Arial"/>
              </a:rPr>
              <a:t> </a:t>
            </a:r>
            <a:r>
              <a:rPr dirty="0" sz="1000" spc="-70">
                <a:latin typeface="Tahoma"/>
                <a:cs typeface="Tahoma"/>
              </a:rPr>
              <a:t>Images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are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resized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normalized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to </a:t>
            </a:r>
            <a:r>
              <a:rPr dirty="0" sz="1000" spc="-25">
                <a:latin typeface="Tahoma"/>
                <a:cs typeface="Tahoma"/>
              </a:rPr>
              <a:t>maintain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uniform </a:t>
            </a:r>
            <a:r>
              <a:rPr dirty="0" sz="1000" spc="-10">
                <a:latin typeface="Tahoma"/>
                <a:cs typeface="Tahoma"/>
              </a:rPr>
              <a:t>input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size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improve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model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performance.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0" y="3357588"/>
            <a:ext cx="4608195" cy="98425"/>
          </a:xfrm>
          <a:custGeom>
            <a:avLst/>
            <a:gdLst/>
            <a:ahLst/>
            <a:cxnLst/>
            <a:rect l="l" t="t" r="r" b="b"/>
            <a:pathLst>
              <a:path w="4608195" h="98425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98412"/>
                </a:lnTo>
                <a:lnTo>
                  <a:pt x="1520647" y="98412"/>
                </a:lnTo>
                <a:lnTo>
                  <a:pt x="3087344" y="98412"/>
                </a:lnTo>
                <a:lnTo>
                  <a:pt x="3087344" y="0"/>
                </a:lnTo>
                <a:close/>
              </a:path>
              <a:path w="4608195" h="98425">
                <a:moveTo>
                  <a:pt x="4608004" y="0"/>
                </a:moveTo>
                <a:lnTo>
                  <a:pt x="3087357" y="0"/>
                </a:lnTo>
                <a:lnTo>
                  <a:pt x="3087357" y="98412"/>
                </a:lnTo>
                <a:lnTo>
                  <a:pt x="4608004" y="98412"/>
                </a:lnTo>
                <a:lnTo>
                  <a:pt x="4608004" y="0"/>
                </a:lnTo>
                <a:close/>
              </a:path>
            </a:pathLst>
          </a:custGeom>
          <a:solidFill>
            <a:srgbClr val="0E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pc="-10"/>
              <a:t>Final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dirty="0" spc="30"/>
              <a:t> </a:t>
            </a:r>
            <a:r>
              <a:rPr dirty="0"/>
              <a:t>23,</a:t>
            </a:r>
            <a:r>
              <a:rPr dirty="0" spc="35"/>
              <a:t> </a:t>
            </a:r>
            <a:r>
              <a:rPr dirty="0" spc="-20"/>
              <a:t>2026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/>
              <a:t>10</a:t>
            </a:fld>
            <a:r>
              <a:rPr dirty="0" spc="20"/>
              <a:t> </a:t>
            </a:r>
            <a:r>
              <a:rPr dirty="0" spc="125"/>
              <a:t>/</a:t>
            </a:r>
            <a:r>
              <a:rPr dirty="0" spc="25"/>
              <a:t> </a:t>
            </a:r>
            <a:r>
              <a:rPr dirty="0" spc="-25"/>
              <a:t>24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HARDWARE</a:t>
            </a:r>
            <a:r>
              <a:rPr dirty="0" spc="250"/>
              <a:t> </a:t>
            </a:r>
            <a:r>
              <a:rPr dirty="0" spc="-10"/>
              <a:t>REQUIREMENTS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00354" y="688891"/>
            <a:ext cx="3618865" cy="2202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292100" indent="139700">
              <a:lnSpc>
                <a:spcPct val="100000"/>
              </a:lnSpc>
              <a:spcBef>
                <a:spcPts val="95"/>
              </a:spcBef>
              <a:buFont typeface="Lucida Sans Unicode"/>
              <a:buChar char="►"/>
              <a:tabLst>
                <a:tab pos="152400" algn="l"/>
              </a:tabLst>
            </a:pPr>
            <a:r>
              <a:rPr dirty="0" sz="1000" spc="-30" b="1">
                <a:latin typeface="Arial"/>
                <a:cs typeface="Arial"/>
              </a:rPr>
              <a:t>System</a:t>
            </a:r>
            <a:r>
              <a:rPr dirty="0" sz="1000" spc="1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Device:</a:t>
            </a:r>
            <a:r>
              <a:rPr dirty="0" sz="1000" spc="80" b="1">
                <a:latin typeface="Arial"/>
                <a:cs typeface="Arial"/>
              </a:rPr>
              <a:t> </a:t>
            </a:r>
            <a:r>
              <a:rPr dirty="0" sz="1000" spc="-30">
                <a:latin typeface="Tahoma"/>
                <a:cs typeface="Tahoma"/>
              </a:rPr>
              <a:t>Computer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or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laptop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run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traffic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sign </a:t>
            </a:r>
            <a:r>
              <a:rPr dirty="0" sz="1000" spc="-30">
                <a:latin typeface="Tahoma"/>
                <a:cs typeface="Tahoma"/>
              </a:rPr>
              <a:t>detection</a:t>
            </a:r>
            <a:r>
              <a:rPr dirty="0" sz="1000" spc="2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system</a:t>
            </a:r>
            <a:r>
              <a:rPr dirty="0" sz="1000" spc="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CNN</a:t>
            </a:r>
            <a:r>
              <a:rPr dirty="0" sz="1000" spc="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model.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Lucida Sans Unicode"/>
              <a:buChar char="►"/>
            </a:pPr>
            <a:endParaRPr sz="1000">
              <a:latin typeface="Tahoma"/>
              <a:cs typeface="Tahoma"/>
            </a:endParaRPr>
          </a:p>
          <a:p>
            <a:pPr marL="12700" marR="103505" indent="139700">
              <a:lnSpc>
                <a:spcPct val="100000"/>
              </a:lnSpc>
              <a:buFont typeface="Lucida Sans Unicode"/>
              <a:buChar char="►"/>
              <a:tabLst>
                <a:tab pos="152400" algn="l"/>
              </a:tabLst>
            </a:pPr>
            <a:r>
              <a:rPr dirty="0" sz="1000" spc="-50" b="1">
                <a:latin typeface="Arial"/>
                <a:cs typeface="Arial"/>
              </a:rPr>
              <a:t>Processor:</a:t>
            </a:r>
            <a:r>
              <a:rPr dirty="0" sz="1000" spc="125" b="1">
                <a:latin typeface="Arial"/>
                <a:cs typeface="Arial"/>
              </a:rPr>
              <a:t> </a:t>
            </a:r>
            <a:r>
              <a:rPr dirty="0" sz="1000" spc="-30">
                <a:latin typeface="Tahoma"/>
                <a:cs typeface="Tahoma"/>
              </a:rPr>
              <a:t>Intel</a:t>
            </a:r>
            <a:r>
              <a:rPr dirty="0" sz="1000">
                <a:latin typeface="Tahoma"/>
                <a:cs typeface="Tahoma"/>
              </a:rPr>
              <a:t> i5</a:t>
            </a:r>
            <a:r>
              <a:rPr dirty="0" sz="1000" spc="-10">
                <a:latin typeface="Tahoma"/>
                <a:cs typeface="Tahoma"/>
              </a:rPr>
              <a:t> or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above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(i7/GPU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recommended)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faster </a:t>
            </a:r>
            <a:r>
              <a:rPr dirty="0" sz="1000" spc="-45">
                <a:latin typeface="Tahoma"/>
                <a:cs typeface="Tahoma"/>
              </a:rPr>
              <a:t>image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processing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real-</a:t>
            </a:r>
            <a:r>
              <a:rPr dirty="0" sz="1000" spc="-20">
                <a:latin typeface="Tahoma"/>
                <a:cs typeface="Tahoma"/>
              </a:rPr>
              <a:t>time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detection.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Lucida Sans Unicode"/>
              <a:buChar char="►"/>
            </a:pPr>
            <a:endParaRPr sz="1000">
              <a:latin typeface="Tahoma"/>
              <a:cs typeface="Tahoma"/>
            </a:endParaRPr>
          </a:p>
          <a:p>
            <a:pPr marL="12700" marR="5080" indent="139700">
              <a:lnSpc>
                <a:spcPct val="100000"/>
              </a:lnSpc>
              <a:spcBef>
                <a:spcPts val="5"/>
              </a:spcBef>
              <a:buFont typeface="Lucida Sans Unicode"/>
              <a:buChar char="►"/>
              <a:tabLst>
                <a:tab pos="152400" algn="l"/>
              </a:tabLst>
            </a:pPr>
            <a:r>
              <a:rPr dirty="0" sz="1000" b="1">
                <a:latin typeface="Arial"/>
                <a:cs typeface="Arial"/>
              </a:rPr>
              <a:t>Memory</a:t>
            </a:r>
            <a:r>
              <a:rPr dirty="0" sz="1000" spc="6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(RAM):</a:t>
            </a:r>
            <a:r>
              <a:rPr dirty="0" sz="1000" spc="45" b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Minimum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8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GB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50">
                <a:latin typeface="Tahoma"/>
                <a:cs typeface="Tahoma"/>
              </a:rPr>
              <a:t>RAM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smooth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execution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of </a:t>
            </a:r>
            <a:r>
              <a:rPr dirty="0" sz="1000" spc="-45">
                <a:latin typeface="Tahoma"/>
                <a:cs typeface="Tahoma"/>
              </a:rPr>
              <a:t>image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processing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60">
                <a:latin typeface="Tahoma"/>
                <a:cs typeface="Tahoma"/>
              </a:rPr>
              <a:t>deep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learning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tasks.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Lucida Sans Unicode"/>
              <a:buChar char="►"/>
            </a:pPr>
            <a:endParaRPr sz="1000">
              <a:latin typeface="Tahoma"/>
              <a:cs typeface="Tahoma"/>
            </a:endParaRPr>
          </a:p>
          <a:p>
            <a:pPr marL="12700" marR="24130" indent="139700">
              <a:lnSpc>
                <a:spcPct val="100000"/>
              </a:lnSpc>
              <a:buFont typeface="Lucida Sans Unicode"/>
              <a:buChar char="►"/>
              <a:tabLst>
                <a:tab pos="152400" algn="l"/>
              </a:tabLst>
            </a:pPr>
            <a:r>
              <a:rPr dirty="0" sz="1000" spc="-25" b="1">
                <a:latin typeface="Arial"/>
                <a:cs typeface="Arial"/>
              </a:rPr>
              <a:t>Storage</a:t>
            </a:r>
            <a:r>
              <a:rPr dirty="0" sz="1000" spc="45" b="1">
                <a:latin typeface="Arial"/>
                <a:cs typeface="Arial"/>
              </a:rPr>
              <a:t> </a:t>
            </a:r>
            <a:r>
              <a:rPr dirty="0" sz="1000" spc="-30" b="1">
                <a:latin typeface="Arial"/>
                <a:cs typeface="Arial"/>
              </a:rPr>
              <a:t>Space:</a:t>
            </a:r>
            <a:r>
              <a:rPr dirty="0" sz="1000" spc="114" b="1">
                <a:latin typeface="Arial"/>
                <a:cs typeface="Arial"/>
              </a:rPr>
              <a:t> </a:t>
            </a:r>
            <a:r>
              <a:rPr dirty="0" sz="1000" spc="-55">
                <a:latin typeface="Tahoma"/>
                <a:cs typeface="Tahoma"/>
              </a:rPr>
              <a:t>10–20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GB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free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space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dataset,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trained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model </a:t>
            </a:r>
            <a:r>
              <a:rPr dirty="0" sz="1000" spc="-20">
                <a:latin typeface="Tahoma"/>
                <a:cs typeface="Tahoma"/>
              </a:rPr>
              <a:t>files,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output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results.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Lucida Sans Unicode"/>
              <a:buChar char="►"/>
            </a:pPr>
            <a:endParaRPr sz="1000">
              <a:latin typeface="Tahoma"/>
              <a:cs typeface="Tahoma"/>
            </a:endParaRPr>
          </a:p>
          <a:p>
            <a:pPr marL="12700" marR="103505" indent="139700">
              <a:lnSpc>
                <a:spcPct val="100000"/>
              </a:lnSpc>
              <a:buFont typeface="Lucida Sans Unicode"/>
              <a:buChar char="►"/>
              <a:tabLst>
                <a:tab pos="152400" algn="l"/>
              </a:tabLst>
            </a:pPr>
            <a:r>
              <a:rPr dirty="0" sz="1000" spc="-10" b="1">
                <a:latin typeface="Arial"/>
                <a:cs typeface="Arial"/>
              </a:rPr>
              <a:t>Camera:</a:t>
            </a:r>
            <a:r>
              <a:rPr dirty="0" sz="1000" spc="75" b="1">
                <a:latin typeface="Arial"/>
                <a:cs typeface="Arial"/>
              </a:rPr>
              <a:t> </a:t>
            </a:r>
            <a:r>
              <a:rPr dirty="0" sz="1000" spc="-30">
                <a:latin typeface="Tahoma"/>
                <a:cs typeface="Tahoma"/>
              </a:rPr>
              <a:t>Webcam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or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mobile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camera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capable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capturing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clear </a:t>
            </a:r>
            <a:r>
              <a:rPr dirty="0" sz="1000" spc="-25">
                <a:latin typeface="Tahoma"/>
                <a:cs typeface="Tahoma"/>
              </a:rPr>
              <a:t>road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images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(720p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or</a:t>
            </a:r>
            <a:r>
              <a:rPr dirty="0" sz="1000" spc="-35">
                <a:latin typeface="Tahoma"/>
                <a:cs typeface="Tahoma"/>
              </a:rPr>
              <a:t> higher </a:t>
            </a:r>
            <a:r>
              <a:rPr dirty="0" sz="1000" spc="-10">
                <a:latin typeface="Tahoma"/>
                <a:cs typeface="Tahoma"/>
              </a:rPr>
              <a:t>recommended).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0" y="3357588"/>
            <a:ext cx="4608195" cy="98425"/>
          </a:xfrm>
          <a:custGeom>
            <a:avLst/>
            <a:gdLst/>
            <a:ahLst/>
            <a:cxnLst/>
            <a:rect l="l" t="t" r="r" b="b"/>
            <a:pathLst>
              <a:path w="4608195" h="98425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98412"/>
                </a:lnTo>
                <a:lnTo>
                  <a:pt x="1520647" y="98412"/>
                </a:lnTo>
                <a:lnTo>
                  <a:pt x="3087344" y="98412"/>
                </a:lnTo>
                <a:lnTo>
                  <a:pt x="3087344" y="0"/>
                </a:lnTo>
                <a:close/>
              </a:path>
              <a:path w="4608195" h="98425">
                <a:moveTo>
                  <a:pt x="4608004" y="0"/>
                </a:moveTo>
                <a:lnTo>
                  <a:pt x="3087357" y="0"/>
                </a:lnTo>
                <a:lnTo>
                  <a:pt x="3087357" y="98412"/>
                </a:lnTo>
                <a:lnTo>
                  <a:pt x="4608004" y="98412"/>
                </a:lnTo>
                <a:lnTo>
                  <a:pt x="4608004" y="0"/>
                </a:lnTo>
                <a:close/>
              </a:path>
            </a:pathLst>
          </a:custGeom>
          <a:solidFill>
            <a:srgbClr val="0E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pc="-10"/>
              <a:t>Final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dirty="0" spc="30"/>
              <a:t> </a:t>
            </a:r>
            <a:r>
              <a:rPr dirty="0"/>
              <a:t>23,</a:t>
            </a:r>
            <a:r>
              <a:rPr dirty="0" spc="35"/>
              <a:t> </a:t>
            </a:r>
            <a:r>
              <a:rPr dirty="0" spc="-20"/>
              <a:t>2026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/>
              <a:t>10</a:t>
            </a:fld>
            <a:r>
              <a:rPr dirty="0" spc="20"/>
              <a:t> </a:t>
            </a:r>
            <a:r>
              <a:rPr dirty="0" spc="125"/>
              <a:t>/</a:t>
            </a:r>
            <a:r>
              <a:rPr dirty="0" spc="25"/>
              <a:t> </a:t>
            </a:r>
            <a:r>
              <a:rPr dirty="0" spc="-25"/>
              <a:t>24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SOFTWARE</a:t>
            </a:r>
            <a:r>
              <a:rPr dirty="0" spc="370"/>
              <a:t> </a:t>
            </a:r>
            <a:r>
              <a:rPr dirty="0" spc="-10"/>
              <a:t>REQUIREMENTS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00354" y="630966"/>
            <a:ext cx="3614420" cy="2353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20700" indent="139700">
              <a:lnSpc>
                <a:spcPct val="100000"/>
              </a:lnSpc>
              <a:spcBef>
                <a:spcPts val="95"/>
              </a:spcBef>
              <a:buFont typeface="Lucida Sans Unicode"/>
              <a:buChar char="►"/>
              <a:tabLst>
                <a:tab pos="152400" algn="l"/>
              </a:tabLst>
            </a:pPr>
            <a:r>
              <a:rPr dirty="0" sz="1000" spc="-10" b="1">
                <a:latin typeface="Arial"/>
                <a:cs typeface="Arial"/>
              </a:rPr>
              <a:t>Operating</a:t>
            </a:r>
            <a:r>
              <a:rPr dirty="0" sz="1000" spc="15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System:</a:t>
            </a:r>
            <a:r>
              <a:rPr dirty="0" sz="1000" spc="80" b="1">
                <a:latin typeface="Arial"/>
                <a:cs typeface="Arial"/>
              </a:rPr>
              <a:t> </a:t>
            </a:r>
            <a:r>
              <a:rPr dirty="0" sz="1000" spc="-30">
                <a:latin typeface="Tahoma"/>
                <a:cs typeface="Tahoma"/>
              </a:rPr>
              <a:t>Windows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10/11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or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Linux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(Ubuntu recommended).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Lucida Sans Unicode"/>
              <a:buChar char="►"/>
            </a:pPr>
            <a:endParaRPr sz="1000">
              <a:latin typeface="Tahoma"/>
              <a:cs typeface="Tahoma"/>
            </a:endParaRPr>
          </a:p>
          <a:p>
            <a:pPr marL="12700" marR="5080" indent="139700">
              <a:lnSpc>
                <a:spcPct val="100000"/>
              </a:lnSpc>
              <a:buFont typeface="Lucida Sans Unicode"/>
              <a:buChar char="►"/>
              <a:tabLst>
                <a:tab pos="152400" algn="l"/>
              </a:tabLst>
            </a:pPr>
            <a:r>
              <a:rPr dirty="0" sz="1000" spc="-30" b="1">
                <a:latin typeface="Arial"/>
                <a:cs typeface="Arial"/>
              </a:rPr>
              <a:t>Programming</a:t>
            </a:r>
            <a:r>
              <a:rPr dirty="0" sz="1000" spc="20" b="1">
                <a:latin typeface="Arial"/>
                <a:cs typeface="Arial"/>
              </a:rPr>
              <a:t> </a:t>
            </a:r>
            <a:r>
              <a:rPr dirty="0" sz="1000" spc="-35" b="1">
                <a:latin typeface="Arial"/>
                <a:cs typeface="Arial"/>
              </a:rPr>
              <a:t>Language:</a:t>
            </a:r>
            <a:r>
              <a:rPr dirty="0" sz="1000" spc="80" b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Python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3.x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implementation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the </a:t>
            </a:r>
            <a:r>
              <a:rPr dirty="0" sz="1000" spc="-10">
                <a:latin typeface="Tahoma"/>
                <a:cs typeface="Tahoma"/>
              </a:rPr>
              <a:t>system.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Lucida Sans Unicode"/>
              <a:buChar char="►"/>
            </a:pPr>
            <a:endParaRPr sz="1000">
              <a:latin typeface="Tahoma"/>
              <a:cs typeface="Tahoma"/>
            </a:endParaRPr>
          </a:p>
          <a:p>
            <a:pPr marL="12700" marR="71755" indent="139700">
              <a:lnSpc>
                <a:spcPct val="100000"/>
              </a:lnSpc>
              <a:spcBef>
                <a:spcPts val="5"/>
              </a:spcBef>
              <a:buFont typeface="Lucida Sans Unicode"/>
              <a:buChar char="►"/>
              <a:tabLst>
                <a:tab pos="152400" algn="l"/>
              </a:tabLst>
            </a:pPr>
            <a:r>
              <a:rPr dirty="0" sz="1000" spc="-45" b="1">
                <a:latin typeface="Arial"/>
                <a:cs typeface="Arial"/>
              </a:rPr>
              <a:t>Libraries</a:t>
            </a:r>
            <a:r>
              <a:rPr dirty="0" sz="1000" spc="65" b="1">
                <a:latin typeface="Arial"/>
                <a:cs typeface="Arial"/>
              </a:rPr>
              <a:t> </a:t>
            </a:r>
            <a:r>
              <a:rPr dirty="0" sz="1000" spc="100" b="1">
                <a:latin typeface="Arial"/>
                <a:cs typeface="Arial"/>
              </a:rPr>
              <a:t>&amp;</a:t>
            </a:r>
            <a:r>
              <a:rPr dirty="0" sz="1000" spc="65" b="1">
                <a:latin typeface="Arial"/>
                <a:cs typeface="Arial"/>
              </a:rPr>
              <a:t> </a:t>
            </a:r>
            <a:r>
              <a:rPr dirty="0" sz="1000" spc="-45" b="1">
                <a:latin typeface="Arial"/>
                <a:cs typeface="Arial"/>
              </a:rPr>
              <a:t>Frameworks:</a:t>
            </a:r>
            <a:r>
              <a:rPr dirty="0" sz="1000" spc="135" b="1">
                <a:latin typeface="Arial"/>
                <a:cs typeface="Arial"/>
              </a:rPr>
              <a:t> </a:t>
            </a:r>
            <a:r>
              <a:rPr dirty="0" sz="1000" spc="-35">
                <a:latin typeface="Tahoma"/>
                <a:cs typeface="Tahoma"/>
              </a:rPr>
              <a:t>TensorFlow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105">
                <a:latin typeface="Tahoma"/>
                <a:cs typeface="Tahoma"/>
              </a:rPr>
              <a:t>/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Keras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>
                <a:latin typeface="Tahoma"/>
                <a:cs typeface="Tahoma"/>
              </a:rPr>
              <a:t> CNN </a:t>
            </a:r>
            <a:r>
              <a:rPr dirty="0" sz="1000" spc="-10">
                <a:latin typeface="Tahoma"/>
                <a:cs typeface="Tahoma"/>
              </a:rPr>
              <a:t>model, </a:t>
            </a:r>
            <a:r>
              <a:rPr dirty="0" sz="1000">
                <a:latin typeface="Tahoma"/>
                <a:cs typeface="Tahoma"/>
              </a:rPr>
              <a:t>OpenCV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image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processing,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NumPy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 </a:t>
            </a:r>
            <a:r>
              <a:rPr dirty="0" sz="1000">
                <a:latin typeface="Tahoma"/>
                <a:cs typeface="Tahoma"/>
              </a:rPr>
              <a:t>Matplotlib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data </a:t>
            </a:r>
            <a:r>
              <a:rPr dirty="0" sz="1000" spc="-30">
                <a:latin typeface="Tahoma"/>
                <a:cs typeface="Tahoma"/>
              </a:rPr>
              <a:t>handling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visualization.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Lucida Sans Unicode"/>
              <a:buChar char="►"/>
            </a:pPr>
            <a:endParaRPr sz="1000">
              <a:latin typeface="Tahoma"/>
              <a:cs typeface="Tahoma"/>
            </a:endParaRPr>
          </a:p>
          <a:p>
            <a:pPr marL="152400" indent="-139700">
              <a:lnSpc>
                <a:spcPts val="1200"/>
              </a:lnSpc>
              <a:spcBef>
                <a:spcPts val="5"/>
              </a:spcBef>
              <a:buFont typeface="Lucida Sans Unicode"/>
              <a:buChar char="►"/>
              <a:tabLst>
                <a:tab pos="152400" algn="l"/>
              </a:tabLst>
            </a:pPr>
            <a:r>
              <a:rPr dirty="0" sz="1000" spc="-25" b="1">
                <a:latin typeface="Arial"/>
                <a:cs typeface="Arial"/>
              </a:rPr>
              <a:t>Development</a:t>
            </a:r>
            <a:r>
              <a:rPr dirty="0" sz="1000" spc="35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Environment:</a:t>
            </a:r>
            <a:r>
              <a:rPr dirty="0" sz="1000" spc="95" b="1">
                <a:latin typeface="Arial"/>
                <a:cs typeface="Arial"/>
              </a:rPr>
              <a:t> </a:t>
            </a:r>
            <a:r>
              <a:rPr dirty="0" sz="1000" spc="-20">
                <a:latin typeface="Tahoma"/>
                <a:cs typeface="Tahoma"/>
              </a:rPr>
              <a:t>Jupyter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Notebook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105">
                <a:latin typeface="Tahoma"/>
                <a:cs typeface="Tahoma"/>
              </a:rPr>
              <a:t>/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Google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Colab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ts val="1200"/>
              </a:lnSpc>
            </a:pPr>
            <a:r>
              <a:rPr dirty="0" sz="1000" spc="105">
                <a:latin typeface="Tahoma"/>
                <a:cs typeface="Tahoma"/>
              </a:rPr>
              <a:t>/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VS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Code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coding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testing.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000">
              <a:latin typeface="Tahoma"/>
              <a:cs typeface="Tahoma"/>
            </a:endParaRPr>
          </a:p>
          <a:p>
            <a:pPr marL="12700" marR="212090" indent="139700">
              <a:lnSpc>
                <a:spcPct val="100000"/>
              </a:lnSpc>
              <a:buFont typeface="Lucida Sans Unicode"/>
              <a:buChar char="►"/>
              <a:tabLst>
                <a:tab pos="152400" algn="l"/>
              </a:tabLst>
            </a:pPr>
            <a:r>
              <a:rPr dirty="0" sz="1000" b="1">
                <a:latin typeface="Arial"/>
                <a:cs typeface="Arial"/>
              </a:rPr>
              <a:t>Dataset:</a:t>
            </a:r>
            <a:r>
              <a:rPr dirty="0" sz="1000" spc="114" b="1">
                <a:latin typeface="Arial"/>
                <a:cs typeface="Arial"/>
              </a:rPr>
              <a:t> </a:t>
            </a:r>
            <a:r>
              <a:rPr dirty="0" sz="1000" spc="-10">
                <a:latin typeface="Tahoma"/>
                <a:cs typeface="Tahoma"/>
              </a:rPr>
              <a:t>Traffic </a:t>
            </a:r>
            <a:r>
              <a:rPr dirty="0" sz="1000" spc="-25">
                <a:latin typeface="Tahoma"/>
                <a:cs typeface="Tahoma"/>
              </a:rPr>
              <a:t>sign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dataset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(e.g.,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GTSRB)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 </a:t>
            </a:r>
            <a:r>
              <a:rPr dirty="0" sz="1000" spc="-20">
                <a:latin typeface="Tahoma"/>
                <a:cs typeface="Tahoma"/>
              </a:rPr>
              <a:t>training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 testing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the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model.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0" y="3357588"/>
            <a:ext cx="4608195" cy="98425"/>
          </a:xfrm>
          <a:custGeom>
            <a:avLst/>
            <a:gdLst/>
            <a:ahLst/>
            <a:cxnLst/>
            <a:rect l="l" t="t" r="r" b="b"/>
            <a:pathLst>
              <a:path w="4608195" h="98425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98412"/>
                </a:lnTo>
                <a:lnTo>
                  <a:pt x="1520647" y="98412"/>
                </a:lnTo>
                <a:lnTo>
                  <a:pt x="3087344" y="98412"/>
                </a:lnTo>
                <a:lnTo>
                  <a:pt x="3087344" y="0"/>
                </a:lnTo>
                <a:close/>
              </a:path>
              <a:path w="4608195" h="98425">
                <a:moveTo>
                  <a:pt x="4608004" y="0"/>
                </a:moveTo>
                <a:lnTo>
                  <a:pt x="3087357" y="0"/>
                </a:lnTo>
                <a:lnTo>
                  <a:pt x="3087357" y="98412"/>
                </a:lnTo>
                <a:lnTo>
                  <a:pt x="4608004" y="98412"/>
                </a:lnTo>
                <a:lnTo>
                  <a:pt x="4608004" y="0"/>
                </a:lnTo>
                <a:close/>
              </a:path>
            </a:pathLst>
          </a:custGeom>
          <a:solidFill>
            <a:srgbClr val="0E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pc="-10"/>
              <a:t>Final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dirty="0" spc="30"/>
              <a:t> </a:t>
            </a:r>
            <a:r>
              <a:rPr dirty="0"/>
              <a:t>23,</a:t>
            </a:r>
            <a:r>
              <a:rPr dirty="0" spc="35"/>
              <a:t> </a:t>
            </a:r>
            <a:r>
              <a:rPr dirty="0" spc="-20"/>
              <a:t>2026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/>
              <a:t>10</a:t>
            </a:fld>
            <a:r>
              <a:rPr dirty="0" spc="20"/>
              <a:t> </a:t>
            </a:r>
            <a:r>
              <a:rPr dirty="0" spc="125"/>
              <a:t>/</a:t>
            </a:r>
            <a:r>
              <a:rPr dirty="0" spc="25"/>
              <a:t> </a:t>
            </a:r>
            <a:r>
              <a:rPr dirty="0" spc="-25"/>
              <a:t>24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AD</a:t>
            </a:r>
            <a:r>
              <a:rPr dirty="0" spc="-10"/>
              <a:t>V</a:t>
            </a:r>
            <a:r>
              <a:rPr dirty="0" spc="-10"/>
              <a:t>ANTAGES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00354" y="504449"/>
            <a:ext cx="3587750" cy="26701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209550" indent="139700">
              <a:lnSpc>
                <a:spcPct val="100000"/>
              </a:lnSpc>
              <a:spcBef>
                <a:spcPts val="95"/>
              </a:spcBef>
              <a:buFont typeface="Lucida Sans Unicode"/>
              <a:buChar char="►"/>
              <a:tabLst>
                <a:tab pos="152400" algn="l"/>
              </a:tabLst>
            </a:pPr>
            <a:r>
              <a:rPr dirty="0" sz="1000" spc="-10" b="1">
                <a:latin typeface="Arial"/>
                <a:cs typeface="Arial"/>
              </a:rPr>
              <a:t>Real-</a:t>
            </a:r>
            <a:r>
              <a:rPr dirty="0" sz="1000" b="1">
                <a:latin typeface="Arial"/>
                <a:cs typeface="Arial"/>
              </a:rPr>
              <a:t>Time</a:t>
            </a:r>
            <a:r>
              <a:rPr dirty="0" sz="1000" spc="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Detection:</a:t>
            </a:r>
            <a:r>
              <a:rPr dirty="0" sz="1000" spc="85" b="1">
                <a:latin typeface="Arial"/>
                <a:cs typeface="Arial"/>
              </a:rPr>
              <a:t> </a:t>
            </a:r>
            <a:r>
              <a:rPr dirty="0" sz="1000" spc="-30">
                <a:latin typeface="Tahoma"/>
                <a:cs typeface="Tahoma"/>
              </a:rPr>
              <a:t>Continuously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detects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35">
                <a:latin typeface="Tahoma"/>
                <a:cs typeface="Tahoma"/>
              </a:rPr>
              <a:t> recognizes </a:t>
            </a:r>
            <a:r>
              <a:rPr dirty="0" sz="1000" spc="-10">
                <a:latin typeface="Tahoma"/>
                <a:cs typeface="Tahoma"/>
              </a:rPr>
              <a:t>traffic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signs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from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live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camera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input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without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delay.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Lucida Sans Unicode"/>
              <a:buChar char="►"/>
            </a:pPr>
            <a:endParaRPr sz="1000">
              <a:latin typeface="Tahoma"/>
              <a:cs typeface="Tahoma"/>
            </a:endParaRPr>
          </a:p>
          <a:p>
            <a:pPr marL="12700" marR="304800" indent="139700">
              <a:lnSpc>
                <a:spcPct val="100000"/>
              </a:lnSpc>
              <a:buFont typeface="Lucida Sans Unicode"/>
              <a:buChar char="►"/>
              <a:tabLst>
                <a:tab pos="152400" algn="l"/>
              </a:tabLst>
            </a:pPr>
            <a:r>
              <a:rPr dirty="0" sz="1000" b="1">
                <a:latin typeface="Arial"/>
                <a:cs typeface="Arial"/>
              </a:rPr>
              <a:t>High</a:t>
            </a:r>
            <a:r>
              <a:rPr dirty="0" sz="1000" spc="30" b="1">
                <a:latin typeface="Arial"/>
                <a:cs typeface="Arial"/>
              </a:rPr>
              <a:t> </a:t>
            </a:r>
            <a:r>
              <a:rPr dirty="0" sz="1000" spc="-35" b="1">
                <a:latin typeface="Arial"/>
                <a:cs typeface="Arial"/>
              </a:rPr>
              <a:t>Accuracy:</a:t>
            </a:r>
            <a:r>
              <a:rPr dirty="0" sz="1000" spc="100" b="1">
                <a:latin typeface="Arial"/>
                <a:cs typeface="Arial"/>
              </a:rPr>
              <a:t> </a:t>
            </a:r>
            <a:r>
              <a:rPr dirty="0" sz="1000" spc="-30">
                <a:latin typeface="Tahoma"/>
                <a:cs typeface="Tahoma"/>
              </a:rPr>
              <a:t>Uses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CNN-</a:t>
            </a:r>
            <a:r>
              <a:rPr dirty="0" sz="1000" spc="-10">
                <a:latin typeface="Tahoma"/>
                <a:cs typeface="Tahoma"/>
              </a:rPr>
              <a:t>based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60">
                <a:latin typeface="Tahoma"/>
                <a:cs typeface="Tahoma"/>
              </a:rPr>
              <a:t>deep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learning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models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to </a:t>
            </a:r>
            <a:r>
              <a:rPr dirty="0" sz="1000" spc="-40">
                <a:latin typeface="Tahoma"/>
                <a:cs typeface="Tahoma"/>
              </a:rPr>
              <a:t>achieve</a:t>
            </a:r>
            <a:r>
              <a:rPr dirty="0" sz="1000" spc="-35">
                <a:latin typeface="Tahoma"/>
                <a:cs typeface="Tahoma"/>
              </a:rPr>
              <a:t> accurate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traffic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sign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classification.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Lucida Sans Unicode"/>
              <a:buChar char="►"/>
            </a:pPr>
            <a:endParaRPr sz="1000">
              <a:latin typeface="Tahoma"/>
              <a:cs typeface="Tahoma"/>
            </a:endParaRPr>
          </a:p>
          <a:p>
            <a:pPr marL="12700" marR="348615" indent="139700">
              <a:lnSpc>
                <a:spcPct val="100000"/>
              </a:lnSpc>
              <a:spcBef>
                <a:spcPts val="5"/>
              </a:spcBef>
              <a:buFont typeface="Lucida Sans Unicode"/>
              <a:buChar char="►"/>
              <a:tabLst>
                <a:tab pos="152400" algn="l"/>
              </a:tabLst>
            </a:pPr>
            <a:r>
              <a:rPr dirty="0" sz="1000" spc="-10" b="1">
                <a:latin typeface="Arial"/>
                <a:cs typeface="Arial"/>
              </a:rPr>
              <a:t>Automatic</a:t>
            </a:r>
            <a:r>
              <a:rPr dirty="0" sz="1000" spc="25" b="1">
                <a:latin typeface="Arial"/>
                <a:cs typeface="Arial"/>
              </a:rPr>
              <a:t> </a:t>
            </a:r>
            <a:r>
              <a:rPr dirty="0" sz="1000" spc="-35" b="1">
                <a:latin typeface="Arial"/>
                <a:cs typeface="Arial"/>
              </a:rPr>
              <a:t>Recognition:</a:t>
            </a:r>
            <a:r>
              <a:rPr dirty="0" sz="1000" spc="95" b="1">
                <a:latin typeface="Arial"/>
                <a:cs typeface="Arial"/>
              </a:rPr>
              <a:t> </a:t>
            </a:r>
            <a:r>
              <a:rPr dirty="0" sz="1000" spc="-20">
                <a:latin typeface="Tahoma"/>
                <a:cs typeface="Tahoma"/>
              </a:rPr>
              <a:t>Eliminates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60">
                <a:latin typeface="Tahoma"/>
                <a:cs typeface="Tahoma"/>
              </a:rPr>
              <a:t>need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manual </a:t>
            </a:r>
            <a:r>
              <a:rPr dirty="0" sz="1000" spc="-35">
                <a:latin typeface="Tahoma"/>
                <a:cs typeface="Tahoma"/>
              </a:rPr>
              <a:t>observation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by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automatically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identifying</a:t>
            </a:r>
            <a:r>
              <a:rPr dirty="0" sz="1000" spc="-10">
                <a:latin typeface="Tahoma"/>
                <a:cs typeface="Tahoma"/>
              </a:rPr>
              <a:t> traffic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signs.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Lucida Sans Unicode"/>
              <a:buChar char="►"/>
            </a:pPr>
            <a:endParaRPr sz="1000">
              <a:latin typeface="Tahoma"/>
              <a:cs typeface="Tahoma"/>
            </a:endParaRPr>
          </a:p>
          <a:p>
            <a:pPr marL="12700" marR="5080" indent="139700">
              <a:lnSpc>
                <a:spcPct val="100000"/>
              </a:lnSpc>
              <a:buFont typeface="Lucida Sans Unicode"/>
              <a:buChar char="►"/>
              <a:tabLst>
                <a:tab pos="152400" algn="l"/>
              </a:tabLst>
            </a:pPr>
            <a:r>
              <a:rPr dirty="0" sz="1000" spc="-25" b="1">
                <a:latin typeface="Arial"/>
                <a:cs typeface="Arial"/>
              </a:rPr>
              <a:t>Robust</a:t>
            </a:r>
            <a:r>
              <a:rPr dirty="0" sz="1000" spc="25" b="1">
                <a:latin typeface="Arial"/>
                <a:cs typeface="Arial"/>
              </a:rPr>
              <a:t> </a:t>
            </a:r>
            <a:r>
              <a:rPr dirty="0" sz="1000" spc="-30" b="1">
                <a:latin typeface="Arial"/>
                <a:cs typeface="Arial"/>
              </a:rPr>
              <a:t>Performance:</a:t>
            </a:r>
            <a:r>
              <a:rPr dirty="0" sz="1000" spc="90" b="1">
                <a:latin typeface="Arial"/>
                <a:cs typeface="Arial"/>
              </a:rPr>
              <a:t> </a:t>
            </a:r>
            <a:r>
              <a:rPr dirty="0" sz="1000" spc="-25">
                <a:latin typeface="Tahoma"/>
                <a:cs typeface="Tahoma"/>
              </a:rPr>
              <a:t>Works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under</a:t>
            </a:r>
            <a:r>
              <a:rPr dirty="0" sz="1000" spc="-30">
                <a:latin typeface="Tahoma"/>
                <a:cs typeface="Tahoma"/>
              </a:rPr>
              <a:t> different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conditions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such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as </a:t>
            </a:r>
            <a:r>
              <a:rPr dirty="0" sz="1000" spc="-35">
                <a:latin typeface="Tahoma"/>
                <a:cs typeface="Tahoma"/>
              </a:rPr>
              <a:t>varying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lighting,</a:t>
            </a:r>
            <a:r>
              <a:rPr dirty="0" sz="1000" spc="-45">
                <a:latin typeface="Tahoma"/>
                <a:cs typeface="Tahoma"/>
              </a:rPr>
              <a:t> weather,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backgrounds.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Lucida Sans Unicode"/>
              <a:buChar char="►"/>
            </a:pPr>
            <a:endParaRPr sz="1000">
              <a:latin typeface="Tahoma"/>
              <a:cs typeface="Tahoma"/>
            </a:endParaRPr>
          </a:p>
          <a:p>
            <a:pPr marL="12700" marR="123825" indent="139700">
              <a:lnSpc>
                <a:spcPct val="100000"/>
              </a:lnSpc>
              <a:buFont typeface="Lucida Sans Unicode"/>
              <a:buChar char="►"/>
              <a:tabLst>
                <a:tab pos="152400" algn="l"/>
              </a:tabLst>
            </a:pPr>
            <a:r>
              <a:rPr dirty="0" sz="1000" b="1">
                <a:latin typeface="Arial"/>
                <a:cs typeface="Arial"/>
              </a:rPr>
              <a:t>Driver</a:t>
            </a:r>
            <a:r>
              <a:rPr dirty="0" sz="1000" spc="35" b="1">
                <a:latin typeface="Arial"/>
                <a:cs typeface="Arial"/>
              </a:rPr>
              <a:t> </a:t>
            </a:r>
            <a:r>
              <a:rPr dirty="0" sz="1000" spc="-50" b="1">
                <a:latin typeface="Arial"/>
                <a:cs typeface="Arial"/>
              </a:rPr>
              <a:t>Assistance:</a:t>
            </a:r>
            <a:r>
              <a:rPr dirty="0" sz="1000" spc="100" b="1">
                <a:latin typeface="Arial"/>
                <a:cs typeface="Arial"/>
              </a:rPr>
              <a:t> </a:t>
            </a:r>
            <a:r>
              <a:rPr dirty="0" sz="1000" spc="-25">
                <a:latin typeface="Tahoma"/>
                <a:cs typeface="Tahoma"/>
              </a:rPr>
              <a:t>Provides </a:t>
            </a:r>
            <a:r>
              <a:rPr dirty="0" sz="1000" spc="-20">
                <a:latin typeface="Tahoma"/>
                <a:cs typeface="Tahoma"/>
              </a:rPr>
              <a:t>instant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alerts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 </a:t>
            </a:r>
            <a:r>
              <a:rPr dirty="0" sz="1000" spc="-30">
                <a:latin typeface="Tahoma"/>
                <a:cs typeface="Tahoma"/>
              </a:rPr>
              <a:t>information</a:t>
            </a:r>
            <a:r>
              <a:rPr dirty="0" sz="1000" spc="-25">
                <a:latin typeface="Tahoma"/>
                <a:cs typeface="Tahoma"/>
              </a:rPr>
              <a:t> to help </a:t>
            </a:r>
            <a:r>
              <a:rPr dirty="0" sz="1000" spc="-30">
                <a:latin typeface="Tahoma"/>
                <a:cs typeface="Tahoma"/>
              </a:rPr>
              <a:t>drivers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make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safer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decisions.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Lucida Sans Unicode"/>
              <a:buChar char="►"/>
            </a:pPr>
            <a:endParaRPr sz="1000">
              <a:latin typeface="Tahoma"/>
              <a:cs typeface="Tahoma"/>
            </a:endParaRPr>
          </a:p>
          <a:p>
            <a:pPr marL="12700" marR="290195" indent="139700">
              <a:lnSpc>
                <a:spcPct val="100000"/>
              </a:lnSpc>
              <a:buFont typeface="Lucida Sans Unicode"/>
              <a:buChar char="►"/>
              <a:tabLst>
                <a:tab pos="152400" algn="l"/>
              </a:tabLst>
            </a:pPr>
            <a:r>
              <a:rPr dirty="0" sz="1000" spc="-30" b="1">
                <a:latin typeface="Arial"/>
                <a:cs typeface="Arial"/>
              </a:rPr>
              <a:t>Scalable</a:t>
            </a:r>
            <a:r>
              <a:rPr dirty="0" sz="1000" spc="-25" b="1">
                <a:latin typeface="Arial"/>
                <a:cs typeface="Arial"/>
              </a:rPr>
              <a:t> System:</a:t>
            </a:r>
            <a:r>
              <a:rPr dirty="0" sz="1000" spc="75" b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Can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be</a:t>
            </a:r>
            <a:r>
              <a:rPr dirty="0" sz="1000" spc="-45">
                <a:latin typeface="Tahoma"/>
                <a:cs typeface="Tahoma"/>
              </a:rPr>
              <a:t> extended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use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autonomous vehicles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advanced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driver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assistance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systems.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0" y="3357588"/>
            <a:ext cx="4608195" cy="98425"/>
          </a:xfrm>
          <a:custGeom>
            <a:avLst/>
            <a:gdLst/>
            <a:ahLst/>
            <a:cxnLst/>
            <a:rect l="l" t="t" r="r" b="b"/>
            <a:pathLst>
              <a:path w="4608195" h="98425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98412"/>
                </a:lnTo>
                <a:lnTo>
                  <a:pt x="1520647" y="98412"/>
                </a:lnTo>
                <a:lnTo>
                  <a:pt x="3087344" y="98412"/>
                </a:lnTo>
                <a:lnTo>
                  <a:pt x="3087344" y="0"/>
                </a:lnTo>
                <a:close/>
              </a:path>
              <a:path w="4608195" h="98425">
                <a:moveTo>
                  <a:pt x="4608004" y="0"/>
                </a:moveTo>
                <a:lnTo>
                  <a:pt x="3087357" y="0"/>
                </a:lnTo>
                <a:lnTo>
                  <a:pt x="3087357" y="98412"/>
                </a:lnTo>
                <a:lnTo>
                  <a:pt x="4608004" y="98412"/>
                </a:lnTo>
                <a:lnTo>
                  <a:pt x="4608004" y="0"/>
                </a:lnTo>
                <a:close/>
              </a:path>
            </a:pathLst>
          </a:custGeom>
          <a:solidFill>
            <a:srgbClr val="0E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pc="-10"/>
              <a:t>Final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dirty="0" spc="30"/>
              <a:t> </a:t>
            </a:r>
            <a:r>
              <a:rPr dirty="0"/>
              <a:t>23,</a:t>
            </a:r>
            <a:r>
              <a:rPr dirty="0" spc="35"/>
              <a:t> </a:t>
            </a:r>
            <a:r>
              <a:rPr dirty="0" spc="-20"/>
              <a:t>2026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/>
              <a:t>10</a:t>
            </a:fld>
            <a:r>
              <a:rPr dirty="0" spc="20"/>
              <a:t> </a:t>
            </a:r>
            <a:r>
              <a:rPr dirty="0" spc="125"/>
              <a:t>/</a:t>
            </a:r>
            <a:r>
              <a:rPr dirty="0" spc="25"/>
              <a:t> </a:t>
            </a:r>
            <a:r>
              <a:rPr dirty="0" spc="-25"/>
              <a:t>24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59878"/>
            <a:ext cx="173037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RESULTS</a:t>
            </a:r>
            <a:r>
              <a:rPr dirty="0" sz="1400" spc="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dirty="0" sz="1400" spc="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FFFFFF"/>
                </a:solidFill>
                <a:latin typeface="Tahoma"/>
                <a:cs typeface="Tahoma"/>
              </a:rPr>
              <a:t>Dashboard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1586" y="714563"/>
            <a:ext cx="3304880" cy="2162773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3357588"/>
            <a:ext cx="4608195" cy="98425"/>
          </a:xfrm>
          <a:custGeom>
            <a:avLst/>
            <a:gdLst/>
            <a:ahLst/>
            <a:cxnLst/>
            <a:rect l="l" t="t" r="r" b="b"/>
            <a:pathLst>
              <a:path w="4608195" h="98425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98412"/>
                </a:lnTo>
                <a:lnTo>
                  <a:pt x="1520647" y="98412"/>
                </a:lnTo>
                <a:lnTo>
                  <a:pt x="3087344" y="98412"/>
                </a:lnTo>
                <a:lnTo>
                  <a:pt x="3087344" y="0"/>
                </a:lnTo>
                <a:close/>
              </a:path>
              <a:path w="4608195" h="98425">
                <a:moveTo>
                  <a:pt x="4608004" y="0"/>
                </a:moveTo>
                <a:lnTo>
                  <a:pt x="3087357" y="0"/>
                </a:lnTo>
                <a:lnTo>
                  <a:pt x="3087357" y="98412"/>
                </a:lnTo>
                <a:lnTo>
                  <a:pt x="4608004" y="98412"/>
                </a:lnTo>
                <a:lnTo>
                  <a:pt x="4608004" y="0"/>
                </a:lnTo>
                <a:close/>
              </a:path>
            </a:pathLst>
          </a:custGeom>
          <a:solidFill>
            <a:srgbClr val="0E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pc="-10"/>
              <a:t>Final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dirty="0" spc="30"/>
              <a:t> </a:t>
            </a:r>
            <a:r>
              <a:rPr dirty="0"/>
              <a:t>23,</a:t>
            </a:r>
            <a:r>
              <a:rPr dirty="0" spc="35"/>
              <a:t> </a:t>
            </a:r>
            <a:r>
              <a:rPr dirty="0" spc="-20"/>
              <a:t>2026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/>
              <a:t>10</a:t>
            </a:fld>
            <a:r>
              <a:rPr dirty="0" spc="20"/>
              <a:t> </a:t>
            </a:r>
            <a:r>
              <a:rPr dirty="0" spc="125"/>
              <a:t>/</a:t>
            </a:r>
            <a:r>
              <a:rPr dirty="0" spc="25"/>
              <a:t> </a:t>
            </a:r>
            <a:r>
              <a:rPr dirty="0" spc="-25"/>
              <a:t>24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59878"/>
            <a:ext cx="215900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RESULTS</a:t>
            </a:r>
            <a:r>
              <a:rPr dirty="0" sz="1400" spc="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dirty="0" sz="1400" spc="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85">
                <a:solidFill>
                  <a:srgbClr val="FFFFFF"/>
                </a:solidFill>
                <a:latin typeface="Tahoma"/>
                <a:cs typeface="Tahoma"/>
              </a:rPr>
              <a:t>Image</a:t>
            </a:r>
            <a:r>
              <a:rPr dirty="0" sz="1400" spc="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Detection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1586" y="708848"/>
            <a:ext cx="3304784" cy="2177099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3357588"/>
            <a:ext cx="4608195" cy="98425"/>
          </a:xfrm>
          <a:custGeom>
            <a:avLst/>
            <a:gdLst/>
            <a:ahLst/>
            <a:cxnLst/>
            <a:rect l="l" t="t" r="r" b="b"/>
            <a:pathLst>
              <a:path w="4608195" h="98425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98412"/>
                </a:lnTo>
                <a:lnTo>
                  <a:pt x="1520647" y="98412"/>
                </a:lnTo>
                <a:lnTo>
                  <a:pt x="3087344" y="98412"/>
                </a:lnTo>
                <a:lnTo>
                  <a:pt x="3087344" y="0"/>
                </a:lnTo>
                <a:close/>
              </a:path>
              <a:path w="4608195" h="98425">
                <a:moveTo>
                  <a:pt x="4608004" y="0"/>
                </a:moveTo>
                <a:lnTo>
                  <a:pt x="3087357" y="0"/>
                </a:lnTo>
                <a:lnTo>
                  <a:pt x="3087357" y="98412"/>
                </a:lnTo>
                <a:lnTo>
                  <a:pt x="4608004" y="98412"/>
                </a:lnTo>
                <a:lnTo>
                  <a:pt x="4608004" y="0"/>
                </a:lnTo>
                <a:close/>
              </a:path>
            </a:pathLst>
          </a:custGeom>
          <a:solidFill>
            <a:srgbClr val="0E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pc="-10"/>
              <a:t>Final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dirty="0" spc="30"/>
              <a:t> </a:t>
            </a:r>
            <a:r>
              <a:rPr dirty="0"/>
              <a:t>23,</a:t>
            </a:r>
            <a:r>
              <a:rPr dirty="0" spc="35"/>
              <a:t> </a:t>
            </a:r>
            <a:r>
              <a:rPr dirty="0" spc="-20"/>
              <a:t>2026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/>
              <a:t>10</a:t>
            </a:fld>
            <a:r>
              <a:rPr dirty="0" spc="20"/>
              <a:t> </a:t>
            </a:r>
            <a:r>
              <a:rPr dirty="0" spc="125"/>
              <a:t>/</a:t>
            </a:r>
            <a:r>
              <a:rPr dirty="0" spc="25"/>
              <a:t> </a:t>
            </a:r>
            <a:r>
              <a:rPr dirty="0" spc="-25"/>
              <a:t>24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59878"/>
            <a:ext cx="273240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RESULTS</a:t>
            </a:r>
            <a:r>
              <a:rPr dirty="0" sz="1400" spc="-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Live</a:t>
            </a:r>
            <a:r>
              <a:rPr dirty="0" sz="1400" spc="-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Camera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 Monitoring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1586" y="716427"/>
            <a:ext cx="3304809" cy="2158128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3357588"/>
            <a:ext cx="4608195" cy="98425"/>
          </a:xfrm>
          <a:custGeom>
            <a:avLst/>
            <a:gdLst/>
            <a:ahLst/>
            <a:cxnLst/>
            <a:rect l="l" t="t" r="r" b="b"/>
            <a:pathLst>
              <a:path w="4608195" h="98425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98412"/>
                </a:lnTo>
                <a:lnTo>
                  <a:pt x="1520647" y="98412"/>
                </a:lnTo>
                <a:lnTo>
                  <a:pt x="3087344" y="98412"/>
                </a:lnTo>
                <a:lnTo>
                  <a:pt x="3087344" y="0"/>
                </a:lnTo>
                <a:close/>
              </a:path>
              <a:path w="4608195" h="98425">
                <a:moveTo>
                  <a:pt x="4608004" y="0"/>
                </a:moveTo>
                <a:lnTo>
                  <a:pt x="3087357" y="0"/>
                </a:lnTo>
                <a:lnTo>
                  <a:pt x="3087357" y="98412"/>
                </a:lnTo>
                <a:lnTo>
                  <a:pt x="4608004" y="98412"/>
                </a:lnTo>
                <a:lnTo>
                  <a:pt x="4608004" y="0"/>
                </a:lnTo>
                <a:close/>
              </a:path>
            </a:pathLst>
          </a:custGeom>
          <a:solidFill>
            <a:srgbClr val="0E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pc="-10"/>
              <a:t>Final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dirty="0" spc="30"/>
              <a:t> </a:t>
            </a:r>
            <a:r>
              <a:rPr dirty="0"/>
              <a:t>23,</a:t>
            </a:r>
            <a:r>
              <a:rPr dirty="0" spc="35"/>
              <a:t> </a:t>
            </a:r>
            <a:r>
              <a:rPr dirty="0" spc="-20"/>
              <a:t>2026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/>
              <a:t>10</a:t>
            </a:fld>
            <a:r>
              <a:rPr dirty="0" spc="20"/>
              <a:t> </a:t>
            </a:r>
            <a:r>
              <a:rPr dirty="0" spc="125"/>
              <a:t>/</a:t>
            </a:r>
            <a:r>
              <a:rPr dirty="0" spc="25"/>
              <a:t> </a:t>
            </a:r>
            <a:r>
              <a:rPr dirty="0" spc="-25"/>
              <a:t>24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5"/>
              <a:t>Analysis:</a:t>
            </a:r>
            <a:r>
              <a:rPr dirty="0" spc="25"/>
              <a:t> </a:t>
            </a:r>
            <a:r>
              <a:rPr dirty="0" spc="-20"/>
              <a:t>Accuracy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7294" y="661789"/>
            <a:ext cx="5302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40" b="1">
                <a:latin typeface="Arial"/>
                <a:cs typeface="Arial"/>
              </a:rPr>
              <a:t>Formula: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445260" y="847958"/>
            <a:ext cx="6464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5" i="1">
                <a:latin typeface="Arial"/>
                <a:cs typeface="Arial"/>
              </a:rPr>
              <a:t>Accuracy</a:t>
            </a:r>
            <a:r>
              <a:rPr dirty="0" sz="1000" i="1">
                <a:latin typeface="Arial"/>
                <a:cs typeface="Arial"/>
              </a:rPr>
              <a:t> </a:t>
            </a:r>
            <a:r>
              <a:rPr dirty="0" sz="1000" spc="-5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109597" y="762309"/>
            <a:ext cx="10375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Tahoma"/>
                <a:cs typeface="Tahoma"/>
              </a:rPr>
              <a:t>Correct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Predictions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2122297" y="955560"/>
            <a:ext cx="1012825" cy="0"/>
          </a:xfrm>
          <a:custGeom>
            <a:avLst/>
            <a:gdLst/>
            <a:ahLst/>
            <a:cxnLst/>
            <a:rect l="l" t="t" r="r" b="b"/>
            <a:pathLst>
              <a:path w="1012825" h="0">
                <a:moveTo>
                  <a:pt x="0" y="0"/>
                </a:moveTo>
                <a:lnTo>
                  <a:pt x="1012558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2164422" y="934763"/>
            <a:ext cx="928369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Total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Predictions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47294" y="1291188"/>
            <a:ext cx="2647950" cy="6457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latin typeface="Arial"/>
                <a:cs typeface="Arial"/>
              </a:rPr>
              <a:t>Calculation:</a:t>
            </a:r>
            <a:endParaRPr sz="1000">
              <a:latin typeface="Arial"/>
              <a:cs typeface="Arial"/>
            </a:endParaRPr>
          </a:p>
          <a:p>
            <a:pPr marL="1387475" marR="5080" indent="-109855">
              <a:lnSpc>
                <a:spcPct val="124500"/>
              </a:lnSpc>
              <a:spcBef>
                <a:spcPts val="700"/>
              </a:spcBef>
            </a:pPr>
            <a:r>
              <a:rPr dirty="0" sz="1000" spc="-20">
                <a:latin typeface="Tahoma"/>
                <a:cs typeface="Tahoma"/>
              </a:rPr>
              <a:t>Correct</a:t>
            </a:r>
            <a:r>
              <a:rPr dirty="0" sz="1000" spc="5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Predictions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7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91 </a:t>
            </a:r>
            <a:r>
              <a:rPr dirty="0" sz="1000">
                <a:latin typeface="Tahoma"/>
                <a:cs typeface="Tahoma"/>
              </a:rPr>
              <a:t>Total</a:t>
            </a:r>
            <a:r>
              <a:rPr dirty="0" sz="1000" spc="4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Predictions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100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362873" y="2133287"/>
            <a:ext cx="1524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Tahoma"/>
                <a:cs typeface="Tahoma"/>
              </a:rPr>
              <a:t>91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2343937" y="2326538"/>
            <a:ext cx="189865" cy="0"/>
          </a:xfrm>
          <a:custGeom>
            <a:avLst/>
            <a:gdLst/>
            <a:ahLst/>
            <a:cxnLst/>
            <a:rect l="l" t="t" r="r" b="b"/>
            <a:pathLst>
              <a:path w="189864" h="0">
                <a:moveTo>
                  <a:pt x="0" y="0"/>
                </a:moveTo>
                <a:lnTo>
                  <a:pt x="189788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2331237" y="2305741"/>
            <a:ext cx="2152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45">
                <a:latin typeface="Tahoma"/>
                <a:cs typeface="Tahoma"/>
              </a:rPr>
              <a:t>100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666913" y="2218949"/>
            <a:ext cx="12744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09955" algn="l"/>
              </a:tabLst>
            </a:pPr>
            <a:r>
              <a:rPr dirty="0" sz="1000" spc="-35" i="1">
                <a:latin typeface="Arial"/>
                <a:cs typeface="Arial"/>
              </a:rPr>
              <a:t>Accuracy</a:t>
            </a:r>
            <a:r>
              <a:rPr dirty="0" sz="1000" i="1">
                <a:latin typeface="Arial"/>
                <a:cs typeface="Arial"/>
              </a:rPr>
              <a:t> </a:t>
            </a:r>
            <a:r>
              <a:rPr dirty="0" sz="1000" spc="-50">
                <a:latin typeface="Tahoma"/>
                <a:cs typeface="Tahoma"/>
              </a:rPr>
              <a:t>=</a:t>
            </a:r>
            <a:r>
              <a:rPr dirty="0" sz="1000">
                <a:latin typeface="Tahoma"/>
                <a:cs typeface="Tahoma"/>
              </a:rPr>
              <a:t>	=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0</a:t>
            </a:r>
            <a:r>
              <a:rPr dirty="0" sz="1000" spc="-30" i="1">
                <a:latin typeface="Arial"/>
                <a:cs typeface="Arial"/>
              </a:rPr>
              <a:t>.</a:t>
            </a:r>
            <a:r>
              <a:rPr dirty="0" sz="1000" spc="-30">
                <a:latin typeface="Tahoma"/>
                <a:cs typeface="Tahoma"/>
              </a:rPr>
              <a:t>91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47294" y="2590170"/>
            <a:ext cx="92075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dirty="0" sz="1000" spc="-10" b="1">
                <a:latin typeface="Arial"/>
                <a:cs typeface="Arial"/>
              </a:rPr>
              <a:t>Final</a:t>
            </a:r>
            <a:r>
              <a:rPr dirty="0" sz="1000" spc="-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Result: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dirty="0" sz="1000" spc="-10">
                <a:latin typeface="Tahoma"/>
                <a:cs typeface="Tahoma"/>
              </a:rPr>
              <a:t>Accuracy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70">
                <a:latin typeface="Tahoma"/>
                <a:cs typeface="Tahoma"/>
              </a:rPr>
              <a:t>91%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0" y="3357588"/>
            <a:ext cx="4608195" cy="98425"/>
          </a:xfrm>
          <a:custGeom>
            <a:avLst/>
            <a:gdLst/>
            <a:ahLst/>
            <a:cxnLst/>
            <a:rect l="l" t="t" r="r" b="b"/>
            <a:pathLst>
              <a:path w="4608195" h="98425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98412"/>
                </a:lnTo>
                <a:lnTo>
                  <a:pt x="1520647" y="98412"/>
                </a:lnTo>
                <a:lnTo>
                  <a:pt x="3087344" y="98412"/>
                </a:lnTo>
                <a:lnTo>
                  <a:pt x="3087344" y="0"/>
                </a:lnTo>
                <a:close/>
              </a:path>
              <a:path w="4608195" h="98425">
                <a:moveTo>
                  <a:pt x="4608004" y="0"/>
                </a:moveTo>
                <a:lnTo>
                  <a:pt x="3087357" y="0"/>
                </a:lnTo>
                <a:lnTo>
                  <a:pt x="3087357" y="98412"/>
                </a:lnTo>
                <a:lnTo>
                  <a:pt x="4608004" y="98412"/>
                </a:lnTo>
                <a:lnTo>
                  <a:pt x="4608004" y="0"/>
                </a:lnTo>
                <a:close/>
              </a:path>
            </a:pathLst>
          </a:custGeom>
          <a:solidFill>
            <a:srgbClr val="0E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pc="-10"/>
              <a:t>Final</a:t>
            </a:r>
          </a:p>
        </p:txBody>
      </p:sp>
      <p:sp>
        <p:nvSpPr>
          <p:cNvPr id="16" name="object 1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dirty="0" spc="30"/>
              <a:t> </a:t>
            </a:r>
            <a:r>
              <a:rPr dirty="0"/>
              <a:t>23,</a:t>
            </a:r>
            <a:r>
              <a:rPr dirty="0" spc="35"/>
              <a:t> </a:t>
            </a:r>
            <a:r>
              <a:rPr dirty="0" spc="-20"/>
              <a:t>2026</a:t>
            </a: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/>
              <a:t>10</a:t>
            </a:fld>
            <a:r>
              <a:rPr dirty="0" spc="20"/>
              <a:t> </a:t>
            </a:r>
            <a:r>
              <a:rPr dirty="0" spc="125"/>
              <a:t>/</a:t>
            </a:r>
            <a:r>
              <a:rPr dirty="0" spc="25"/>
              <a:t> </a:t>
            </a:r>
            <a:r>
              <a:rPr dirty="0" spc="-25"/>
              <a:t>24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5"/>
              <a:t>Analysis:</a:t>
            </a:r>
            <a:r>
              <a:rPr dirty="0" spc="25"/>
              <a:t> </a:t>
            </a:r>
            <a:r>
              <a:rPr dirty="0" spc="-25"/>
              <a:t>Precision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7294" y="658982"/>
            <a:ext cx="5302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40" b="1">
                <a:latin typeface="Arial"/>
                <a:cs typeface="Arial"/>
              </a:rPr>
              <a:t>Formula: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298460" y="845152"/>
            <a:ext cx="6286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i="1">
                <a:latin typeface="Arial"/>
                <a:cs typeface="Arial"/>
              </a:rPr>
              <a:t>Precision</a:t>
            </a:r>
            <a:r>
              <a:rPr dirty="0" sz="1000" i="1">
                <a:latin typeface="Arial"/>
                <a:cs typeface="Arial"/>
              </a:rPr>
              <a:t> </a:t>
            </a:r>
            <a:r>
              <a:rPr dirty="0" sz="1000" spc="-5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944649" y="759490"/>
            <a:ext cx="13500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Tahoma"/>
                <a:cs typeface="Tahoma"/>
              </a:rPr>
              <a:t>Correctly Classified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Signs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957349" y="952741"/>
            <a:ext cx="1324610" cy="0"/>
          </a:xfrm>
          <a:custGeom>
            <a:avLst/>
            <a:gdLst/>
            <a:ahLst/>
            <a:cxnLst/>
            <a:rect l="l" t="t" r="r" b="b"/>
            <a:pathLst>
              <a:path w="1324610" h="0">
                <a:moveTo>
                  <a:pt x="0" y="0"/>
                </a:moveTo>
                <a:lnTo>
                  <a:pt x="13243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2038324" y="931943"/>
            <a:ext cx="11626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Total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Predicted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Signs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47294" y="1312981"/>
            <a:ext cx="2773045" cy="6457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latin typeface="Arial"/>
                <a:cs typeface="Arial"/>
              </a:rPr>
              <a:t>Calculation:</a:t>
            </a:r>
            <a:endParaRPr sz="1000">
              <a:latin typeface="Arial"/>
              <a:cs typeface="Arial"/>
            </a:endParaRPr>
          </a:p>
          <a:p>
            <a:pPr marL="1341120" marR="5080" indent="-187325">
              <a:lnSpc>
                <a:spcPct val="124500"/>
              </a:lnSpc>
              <a:spcBef>
                <a:spcPts val="700"/>
              </a:spcBef>
            </a:pPr>
            <a:r>
              <a:rPr dirty="0" sz="1000" spc="-20">
                <a:latin typeface="Tahoma"/>
                <a:cs typeface="Tahoma"/>
              </a:rPr>
              <a:t>Correctly</a:t>
            </a:r>
            <a:r>
              <a:rPr dirty="0" sz="1000" spc="2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Classified</a:t>
            </a:r>
            <a:r>
              <a:rPr dirty="0" sz="1000" spc="2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Signs</a:t>
            </a:r>
            <a:r>
              <a:rPr dirty="0" sz="1000" spc="-9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9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78 </a:t>
            </a:r>
            <a:r>
              <a:rPr dirty="0" sz="1000">
                <a:latin typeface="Tahoma"/>
                <a:cs typeface="Tahoma"/>
              </a:rPr>
              <a:t>Total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Predicted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Signs</a:t>
            </a:r>
            <a:r>
              <a:rPr dirty="0" sz="1000" spc="-9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9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85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322169" y="2155080"/>
            <a:ext cx="1524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Tahoma"/>
                <a:cs typeface="Tahoma"/>
              </a:rPr>
              <a:t>78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2334869" y="2348331"/>
            <a:ext cx="127000" cy="0"/>
          </a:xfrm>
          <a:custGeom>
            <a:avLst/>
            <a:gdLst/>
            <a:ahLst/>
            <a:cxnLst/>
            <a:rect l="l" t="t" r="r" b="b"/>
            <a:pathLst>
              <a:path w="127000" h="0">
                <a:moveTo>
                  <a:pt x="0" y="0"/>
                </a:moveTo>
                <a:lnTo>
                  <a:pt x="12653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2322169" y="2327534"/>
            <a:ext cx="1524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Tahoma"/>
                <a:cs typeface="Tahoma"/>
              </a:rPr>
              <a:t>85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675980" y="2240729"/>
            <a:ext cx="12560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28040" algn="l"/>
              </a:tabLst>
            </a:pPr>
            <a:r>
              <a:rPr dirty="0" sz="1000" spc="-50" i="1">
                <a:latin typeface="Arial"/>
                <a:cs typeface="Arial"/>
              </a:rPr>
              <a:t>Precision</a:t>
            </a:r>
            <a:r>
              <a:rPr dirty="0" sz="1000" i="1">
                <a:latin typeface="Arial"/>
                <a:cs typeface="Arial"/>
              </a:rPr>
              <a:t> </a:t>
            </a:r>
            <a:r>
              <a:rPr dirty="0" sz="1000" spc="-50">
                <a:latin typeface="Tahoma"/>
                <a:cs typeface="Tahoma"/>
              </a:rPr>
              <a:t>=</a:t>
            </a:r>
            <a:r>
              <a:rPr dirty="0" sz="1000">
                <a:latin typeface="Tahoma"/>
                <a:cs typeface="Tahoma"/>
              </a:rPr>
              <a:t>	=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0</a:t>
            </a:r>
            <a:r>
              <a:rPr dirty="0" sz="1000" spc="-35" i="1">
                <a:latin typeface="Arial"/>
                <a:cs typeface="Arial"/>
              </a:rPr>
              <a:t>.</a:t>
            </a:r>
            <a:r>
              <a:rPr dirty="0" sz="1000" spc="-35">
                <a:latin typeface="Tahoma"/>
                <a:cs typeface="Tahoma"/>
              </a:rPr>
              <a:t>918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47294" y="2611963"/>
            <a:ext cx="7518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latin typeface="Arial"/>
                <a:cs typeface="Arial"/>
              </a:rPr>
              <a:t>Final</a:t>
            </a:r>
            <a:r>
              <a:rPr dirty="0" sz="1000" spc="-5" b="1">
                <a:latin typeface="Arial"/>
                <a:cs typeface="Arial"/>
              </a:rPr>
              <a:t> </a:t>
            </a:r>
            <a:r>
              <a:rPr dirty="0" sz="1000" spc="-30" b="1">
                <a:latin typeface="Arial"/>
                <a:cs typeface="Arial"/>
              </a:rPr>
              <a:t>Result: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0" y="3357588"/>
            <a:ext cx="4608195" cy="98425"/>
          </a:xfrm>
          <a:custGeom>
            <a:avLst/>
            <a:gdLst/>
            <a:ahLst/>
            <a:cxnLst/>
            <a:rect l="l" t="t" r="r" b="b"/>
            <a:pathLst>
              <a:path w="4608195" h="98425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98412"/>
                </a:lnTo>
                <a:lnTo>
                  <a:pt x="1520647" y="98412"/>
                </a:lnTo>
                <a:lnTo>
                  <a:pt x="3087344" y="98412"/>
                </a:lnTo>
                <a:lnTo>
                  <a:pt x="3087344" y="0"/>
                </a:lnTo>
                <a:close/>
              </a:path>
              <a:path w="4608195" h="98425">
                <a:moveTo>
                  <a:pt x="4608004" y="0"/>
                </a:moveTo>
                <a:lnTo>
                  <a:pt x="3087357" y="0"/>
                </a:lnTo>
                <a:lnTo>
                  <a:pt x="3087357" y="98412"/>
                </a:lnTo>
                <a:lnTo>
                  <a:pt x="4608004" y="98412"/>
                </a:lnTo>
                <a:lnTo>
                  <a:pt x="4608004" y="0"/>
                </a:lnTo>
                <a:close/>
              </a:path>
            </a:pathLst>
          </a:custGeom>
          <a:solidFill>
            <a:srgbClr val="0E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347294" y="2794284"/>
            <a:ext cx="1013460" cy="1536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 sz="1000" spc="-20">
                <a:latin typeface="Tahoma"/>
                <a:cs typeface="Tahoma"/>
              </a:rPr>
              <a:t>Precision</a:t>
            </a:r>
            <a:r>
              <a:rPr dirty="0" sz="1000" spc="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35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91.8%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pc="-10"/>
              <a:t>Final</a:t>
            </a:r>
          </a:p>
        </p:txBody>
      </p:sp>
      <p:sp>
        <p:nvSpPr>
          <p:cNvPr id="17" name="object 1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dirty="0" spc="30"/>
              <a:t> </a:t>
            </a:r>
            <a:r>
              <a:rPr dirty="0"/>
              <a:t>23,</a:t>
            </a:r>
            <a:r>
              <a:rPr dirty="0" spc="35"/>
              <a:t> </a:t>
            </a:r>
            <a:r>
              <a:rPr dirty="0" spc="-20"/>
              <a:t>2026</a:t>
            </a:r>
          </a:p>
        </p:txBody>
      </p:sp>
      <p:sp>
        <p:nvSpPr>
          <p:cNvPr id="18" name="object 1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/>
              <a:t>17</a:t>
            </a:fld>
            <a:r>
              <a:rPr dirty="0" spc="20"/>
              <a:t> </a:t>
            </a:r>
            <a:r>
              <a:rPr dirty="0" spc="125"/>
              <a:t>/</a:t>
            </a:r>
            <a:r>
              <a:rPr dirty="0" spc="25"/>
              <a:t> </a:t>
            </a:r>
            <a:r>
              <a:rPr dirty="0" spc="-25"/>
              <a:t>24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19507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5"/>
              <a:t>Analysis:</a:t>
            </a:r>
            <a:r>
              <a:rPr dirty="0" spc="25"/>
              <a:t> </a:t>
            </a:r>
            <a:r>
              <a:rPr dirty="0" spc="-20"/>
              <a:t>Recall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7294" y="658982"/>
            <a:ext cx="5302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40" b="1">
                <a:latin typeface="Arial"/>
                <a:cs typeface="Arial"/>
              </a:rPr>
              <a:t>Formula: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372933" y="845152"/>
            <a:ext cx="4794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i="1">
                <a:latin typeface="Arial"/>
                <a:cs typeface="Arial"/>
              </a:rPr>
              <a:t>Recall</a:t>
            </a:r>
            <a:r>
              <a:rPr dirty="0" sz="1000" spc="25" i="1">
                <a:latin typeface="Arial"/>
                <a:cs typeface="Arial"/>
              </a:rPr>
              <a:t> </a:t>
            </a:r>
            <a:r>
              <a:rPr dirty="0" sz="1000" spc="-5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870189" y="759490"/>
            <a:ext cx="13500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Tahoma"/>
                <a:cs typeface="Tahoma"/>
              </a:rPr>
              <a:t>Correctly Classified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Signs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882889" y="952741"/>
            <a:ext cx="1324610" cy="0"/>
          </a:xfrm>
          <a:custGeom>
            <a:avLst/>
            <a:gdLst/>
            <a:ahLst/>
            <a:cxnLst/>
            <a:rect l="l" t="t" r="r" b="b"/>
            <a:pathLst>
              <a:path w="1324610" h="0">
                <a:moveTo>
                  <a:pt x="0" y="0"/>
                </a:moveTo>
                <a:lnTo>
                  <a:pt x="13243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2042223" y="931943"/>
            <a:ext cx="10064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Total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Actual</a:t>
            </a:r>
            <a:r>
              <a:rPr dirty="0" sz="1000" spc="-25">
                <a:latin typeface="Tahoma"/>
                <a:cs typeface="Tahoma"/>
              </a:rPr>
              <a:t> Signs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47294" y="1312981"/>
            <a:ext cx="2773045" cy="6457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latin typeface="Arial"/>
                <a:cs typeface="Arial"/>
              </a:rPr>
              <a:t>Calculation:</a:t>
            </a:r>
            <a:endParaRPr sz="1000">
              <a:latin typeface="Arial"/>
              <a:cs typeface="Arial"/>
            </a:endParaRPr>
          </a:p>
          <a:p>
            <a:pPr marL="1497965" marR="5080" indent="-344170">
              <a:lnSpc>
                <a:spcPct val="124500"/>
              </a:lnSpc>
              <a:spcBef>
                <a:spcPts val="700"/>
              </a:spcBef>
            </a:pPr>
            <a:r>
              <a:rPr dirty="0" sz="1000" spc="-20">
                <a:latin typeface="Tahoma"/>
                <a:cs typeface="Tahoma"/>
              </a:rPr>
              <a:t>Correctly</a:t>
            </a:r>
            <a:r>
              <a:rPr dirty="0" sz="1000" spc="2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Classified</a:t>
            </a:r>
            <a:r>
              <a:rPr dirty="0" sz="1000" spc="2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Signs</a:t>
            </a:r>
            <a:r>
              <a:rPr dirty="0" sz="1000" spc="-9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9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78 </a:t>
            </a:r>
            <a:r>
              <a:rPr dirty="0" sz="1000">
                <a:latin typeface="Tahoma"/>
                <a:cs typeface="Tahoma"/>
              </a:rPr>
              <a:t>Total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Actual</a:t>
            </a:r>
            <a:r>
              <a:rPr dirty="0" sz="1000" spc="2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Signs</a:t>
            </a:r>
            <a:r>
              <a:rPr dirty="0" sz="1000" spc="-9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9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90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247709" y="2155080"/>
            <a:ext cx="1524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Tahoma"/>
                <a:cs typeface="Tahoma"/>
              </a:rPr>
              <a:t>78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2260409" y="2348331"/>
            <a:ext cx="127000" cy="0"/>
          </a:xfrm>
          <a:custGeom>
            <a:avLst/>
            <a:gdLst/>
            <a:ahLst/>
            <a:cxnLst/>
            <a:rect l="l" t="t" r="r" b="b"/>
            <a:pathLst>
              <a:path w="127000" h="0">
                <a:moveTo>
                  <a:pt x="0" y="0"/>
                </a:moveTo>
                <a:lnTo>
                  <a:pt x="12653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2247709" y="2327534"/>
            <a:ext cx="1524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Tahoma"/>
                <a:cs typeface="Tahoma"/>
              </a:rPr>
              <a:t>90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750441" y="2240729"/>
            <a:ext cx="11074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79450" algn="l"/>
              </a:tabLst>
            </a:pPr>
            <a:r>
              <a:rPr dirty="0" sz="1000" spc="-50" i="1">
                <a:latin typeface="Arial"/>
                <a:cs typeface="Arial"/>
              </a:rPr>
              <a:t>Recall</a:t>
            </a:r>
            <a:r>
              <a:rPr dirty="0" sz="1000" spc="25" i="1">
                <a:latin typeface="Arial"/>
                <a:cs typeface="Arial"/>
              </a:rPr>
              <a:t> </a:t>
            </a:r>
            <a:r>
              <a:rPr dirty="0" sz="1000" spc="-50">
                <a:latin typeface="Tahoma"/>
                <a:cs typeface="Tahoma"/>
              </a:rPr>
              <a:t>=</a:t>
            </a:r>
            <a:r>
              <a:rPr dirty="0" sz="1000">
                <a:latin typeface="Tahoma"/>
                <a:cs typeface="Tahoma"/>
              </a:rPr>
              <a:t>	=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0</a:t>
            </a:r>
            <a:r>
              <a:rPr dirty="0" sz="1000" spc="-35" i="1">
                <a:latin typeface="Arial"/>
                <a:cs typeface="Arial"/>
              </a:rPr>
              <a:t>.</a:t>
            </a:r>
            <a:r>
              <a:rPr dirty="0" sz="1000" spc="-35">
                <a:latin typeface="Tahoma"/>
                <a:cs typeface="Tahoma"/>
              </a:rPr>
              <a:t>867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47294" y="2611963"/>
            <a:ext cx="85471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dirty="0" sz="1000" spc="-10" b="1">
                <a:latin typeface="Arial"/>
                <a:cs typeface="Arial"/>
              </a:rPr>
              <a:t>Final</a:t>
            </a:r>
            <a:r>
              <a:rPr dirty="0" sz="1000" spc="-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Result: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dirty="0" sz="1000" spc="-10">
                <a:latin typeface="Tahoma"/>
                <a:cs typeface="Tahoma"/>
              </a:rPr>
              <a:t>Recall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86.7%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0" y="3357588"/>
            <a:ext cx="4608195" cy="98425"/>
          </a:xfrm>
          <a:custGeom>
            <a:avLst/>
            <a:gdLst/>
            <a:ahLst/>
            <a:cxnLst/>
            <a:rect l="l" t="t" r="r" b="b"/>
            <a:pathLst>
              <a:path w="4608195" h="98425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98412"/>
                </a:lnTo>
                <a:lnTo>
                  <a:pt x="1520647" y="98412"/>
                </a:lnTo>
                <a:lnTo>
                  <a:pt x="3087344" y="98412"/>
                </a:lnTo>
                <a:lnTo>
                  <a:pt x="3087344" y="0"/>
                </a:lnTo>
                <a:close/>
              </a:path>
              <a:path w="4608195" h="98425">
                <a:moveTo>
                  <a:pt x="4608004" y="0"/>
                </a:moveTo>
                <a:lnTo>
                  <a:pt x="3087357" y="0"/>
                </a:lnTo>
                <a:lnTo>
                  <a:pt x="3087357" y="98412"/>
                </a:lnTo>
                <a:lnTo>
                  <a:pt x="4608004" y="98412"/>
                </a:lnTo>
                <a:lnTo>
                  <a:pt x="4608004" y="0"/>
                </a:lnTo>
                <a:close/>
              </a:path>
            </a:pathLst>
          </a:custGeom>
          <a:solidFill>
            <a:srgbClr val="0E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pc="-10"/>
              <a:t>Final</a:t>
            </a:r>
          </a:p>
        </p:txBody>
      </p:sp>
      <p:sp>
        <p:nvSpPr>
          <p:cNvPr id="16" name="object 1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dirty="0" spc="30"/>
              <a:t> </a:t>
            </a:r>
            <a:r>
              <a:rPr dirty="0"/>
              <a:t>23,</a:t>
            </a:r>
            <a:r>
              <a:rPr dirty="0" spc="35"/>
              <a:t> </a:t>
            </a:r>
            <a:r>
              <a:rPr dirty="0" spc="-20"/>
              <a:t>2026</a:t>
            </a: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/>
              <a:t>18</a:t>
            </a:fld>
            <a:r>
              <a:rPr dirty="0" spc="20"/>
              <a:t> </a:t>
            </a:r>
            <a:r>
              <a:rPr dirty="0" spc="125"/>
              <a:t>/</a:t>
            </a:r>
            <a:r>
              <a:rPr dirty="0" spc="25"/>
              <a:t> </a:t>
            </a:r>
            <a:r>
              <a:rPr dirty="0" spc="-25"/>
              <a:t>24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40525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5"/>
              <a:t>Analysis:</a:t>
            </a:r>
            <a:r>
              <a:rPr dirty="0" spc="95"/>
              <a:t> </a:t>
            </a:r>
            <a:r>
              <a:rPr dirty="0"/>
              <a:t>F1</a:t>
            </a:r>
            <a:r>
              <a:rPr dirty="0" spc="-40"/>
              <a:t> Score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7294" y="825568"/>
            <a:ext cx="5302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40" b="1">
                <a:latin typeface="Arial"/>
                <a:cs typeface="Arial"/>
              </a:rPr>
              <a:t>Formula: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562773" y="1011738"/>
            <a:ext cx="511809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5" i="1">
                <a:latin typeface="Arial"/>
                <a:cs typeface="Arial"/>
              </a:rPr>
              <a:t>F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sz="1000" spc="-55">
                <a:latin typeface="Tahoma"/>
                <a:cs typeface="Tahoma"/>
              </a:rPr>
              <a:t>1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2</a:t>
            </a:r>
            <a:r>
              <a:rPr dirty="0" sz="1000" spc="-165">
                <a:latin typeface="Tahoma"/>
                <a:cs typeface="Tahoma"/>
              </a:rPr>
              <a:t> </a:t>
            </a:r>
            <a:r>
              <a:rPr dirty="0" sz="1000" spc="-50" i="1">
                <a:latin typeface="Verdana"/>
                <a:cs typeface="Verdana"/>
              </a:rPr>
              <a:t>×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081593" y="926076"/>
            <a:ext cx="9493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latin typeface="Tahoma"/>
                <a:cs typeface="Tahoma"/>
              </a:rPr>
              <a:t>Precision</a:t>
            </a:r>
            <a:r>
              <a:rPr dirty="0" sz="1000" spc="-135">
                <a:latin typeface="Tahoma"/>
                <a:cs typeface="Tahoma"/>
              </a:rPr>
              <a:t> </a:t>
            </a:r>
            <a:r>
              <a:rPr dirty="0" sz="1000" spc="-50" i="1">
                <a:latin typeface="Verdana"/>
                <a:cs typeface="Verdana"/>
              </a:rPr>
              <a:t>×</a:t>
            </a:r>
            <a:r>
              <a:rPr dirty="0" sz="1000" spc="-175" i="1">
                <a:latin typeface="Verdana"/>
                <a:cs typeface="Verdana"/>
              </a:rPr>
              <a:t> </a:t>
            </a:r>
            <a:r>
              <a:rPr dirty="0" sz="1000" spc="-10">
                <a:latin typeface="Tahoma"/>
                <a:cs typeface="Tahoma"/>
              </a:rPr>
              <a:t>Recall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2094242" y="1119327"/>
            <a:ext cx="923290" cy="0"/>
          </a:xfrm>
          <a:custGeom>
            <a:avLst/>
            <a:gdLst/>
            <a:ahLst/>
            <a:cxnLst/>
            <a:rect l="l" t="t" r="r" b="b"/>
            <a:pathLst>
              <a:path w="923289" h="0">
                <a:moveTo>
                  <a:pt x="0" y="0"/>
                </a:moveTo>
                <a:lnTo>
                  <a:pt x="923112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2081542" y="1098529"/>
            <a:ext cx="9493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latin typeface="Tahoma"/>
                <a:cs typeface="Tahoma"/>
              </a:rPr>
              <a:t>Precision</a:t>
            </a:r>
            <a:r>
              <a:rPr dirty="0" sz="1000" spc="-1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114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Recall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47294" y="1465508"/>
            <a:ext cx="7080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 b="1">
                <a:latin typeface="Arial"/>
                <a:cs typeface="Arial"/>
              </a:rPr>
              <a:t>Calculation: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669453" y="1646763"/>
            <a:ext cx="511809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5" i="1">
                <a:latin typeface="Arial"/>
                <a:cs typeface="Arial"/>
              </a:rPr>
              <a:t>F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sz="1000" spc="-55">
                <a:latin typeface="Tahoma"/>
                <a:cs typeface="Tahoma"/>
              </a:rPr>
              <a:t>1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2</a:t>
            </a:r>
            <a:r>
              <a:rPr dirty="0" sz="1000" spc="-165">
                <a:latin typeface="Tahoma"/>
                <a:cs typeface="Tahoma"/>
              </a:rPr>
              <a:t> </a:t>
            </a:r>
            <a:r>
              <a:rPr dirty="0" sz="1000" spc="-50" i="1">
                <a:latin typeface="Verdana"/>
                <a:cs typeface="Verdana"/>
              </a:rPr>
              <a:t>×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188273" y="1561101"/>
            <a:ext cx="7353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45">
                <a:latin typeface="Tahoma"/>
                <a:cs typeface="Tahoma"/>
              </a:rPr>
              <a:t>0</a:t>
            </a:r>
            <a:r>
              <a:rPr dirty="0" sz="1000" spc="-45" i="1">
                <a:latin typeface="Arial"/>
                <a:cs typeface="Arial"/>
              </a:rPr>
              <a:t>.</a:t>
            </a:r>
            <a:r>
              <a:rPr dirty="0" sz="1000" spc="-45">
                <a:latin typeface="Tahoma"/>
                <a:cs typeface="Tahoma"/>
              </a:rPr>
              <a:t>918</a:t>
            </a:r>
            <a:r>
              <a:rPr dirty="0" sz="1000" spc="-175">
                <a:latin typeface="Tahoma"/>
                <a:cs typeface="Tahoma"/>
              </a:rPr>
              <a:t> </a:t>
            </a:r>
            <a:r>
              <a:rPr dirty="0" sz="1000" spc="-50" i="1">
                <a:latin typeface="Verdana"/>
                <a:cs typeface="Verdana"/>
              </a:rPr>
              <a:t>×</a:t>
            </a:r>
            <a:r>
              <a:rPr dirty="0" sz="1000" spc="-210" i="1">
                <a:latin typeface="Verdana"/>
                <a:cs typeface="Verdana"/>
              </a:rPr>
              <a:t> </a:t>
            </a:r>
            <a:r>
              <a:rPr dirty="0" sz="1000" spc="-35">
                <a:latin typeface="Tahoma"/>
                <a:cs typeface="Tahoma"/>
              </a:rPr>
              <a:t>0</a:t>
            </a:r>
            <a:r>
              <a:rPr dirty="0" sz="1000" spc="-35" i="1">
                <a:latin typeface="Arial"/>
                <a:cs typeface="Arial"/>
              </a:rPr>
              <a:t>.</a:t>
            </a:r>
            <a:r>
              <a:rPr dirty="0" sz="1000" spc="-35">
                <a:latin typeface="Tahoma"/>
                <a:cs typeface="Tahoma"/>
              </a:rPr>
              <a:t>867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2200922" y="1754352"/>
            <a:ext cx="709930" cy="0"/>
          </a:xfrm>
          <a:custGeom>
            <a:avLst/>
            <a:gdLst/>
            <a:ahLst/>
            <a:cxnLst/>
            <a:rect l="l" t="t" r="r" b="b"/>
            <a:pathLst>
              <a:path w="709930" h="0">
                <a:moveTo>
                  <a:pt x="0" y="0"/>
                </a:moveTo>
                <a:lnTo>
                  <a:pt x="709752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2188222" y="1733555"/>
            <a:ext cx="7353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45">
                <a:latin typeface="Tahoma"/>
                <a:cs typeface="Tahoma"/>
              </a:rPr>
              <a:t>0</a:t>
            </a:r>
            <a:r>
              <a:rPr dirty="0" sz="1000" spc="-45" i="1">
                <a:latin typeface="Arial"/>
                <a:cs typeface="Arial"/>
              </a:rPr>
              <a:t>.</a:t>
            </a:r>
            <a:r>
              <a:rPr dirty="0" sz="1000" spc="-45">
                <a:latin typeface="Tahoma"/>
                <a:cs typeface="Tahoma"/>
              </a:rPr>
              <a:t>918</a:t>
            </a:r>
            <a:r>
              <a:rPr dirty="0" sz="1000" spc="-15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15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0</a:t>
            </a:r>
            <a:r>
              <a:rPr dirty="0" sz="1000" spc="-35" i="1">
                <a:latin typeface="Arial"/>
                <a:cs typeface="Arial"/>
              </a:rPr>
              <a:t>.</a:t>
            </a:r>
            <a:r>
              <a:rPr dirty="0" sz="1000" spc="-35">
                <a:latin typeface="Tahoma"/>
                <a:cs typeface="Tahoma"/>
              </a:rPr>
              <a:t>867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47294" y="2026341"/>
            <a:ext cx="2266950" cy="664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5"/>
              </a:spcBef>
            </a:pPr>
            <a:r>
              <a:rPr dirty="0" sz="1000" spc="-55" i="1">
                <a:latin typeface="Arial"/>
                <a:cs typeface="Arial"/>
              </a:rPr>
              <a:t>F</a:t>
            </a:r>
            <a:r>
              <a:rPr dirty="0" sz="1000" spc="-135" i="1">
                <a:latin typeface="Arial"/>
                <a:cs typeface="Arial"/>
              </a:rPr>
              <a:t> </a:t>
            </a:r>
            <a:r>
              <a:rPr dirty="0" sz="1000" spc="-55">
                <a:latin typeface="Tahoma"/>
                <a:cs typeface="Tahoma"/>
              </a:rPr>
              <a:t>1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0</a:t>
            </a:r>
            <a:r>
              <a:rPr dirty="0" sz="1000" spc="-10" i="1">
                <a:latin typeface="Arial"/>
                <a:cs typeface="Arial"/>
              </a:rPr>
              <a:t>.</a:t>
            </a:r>
            <a:r>
              <a:rPr dirty="0" sz="1000" spc="-10">
                <a:latin typeface="Tahoma"/>
                <a:cs typeface="Tahoma"/>
              </a:rPr>
              <a:t>892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000">
              <a:latin typeface="Tahoma"/>
              <a:cs typeface="Tahoma"/>
            </a:endParaRPr>
          </a:p>
          <a:p>
            <a:pPr marL="12700">
              <a:lnSpc>
                <a:spcPts val="1200"/>
              </a:lnSpc>
            </a:pPr>
            <a:r>
              <a:rPr dirty="0" sz="1000" spc="-10" b="1">
                <a:latin typeface="Arial"/>
                <a:cs typeface="Arial"/>
              </a:rPr>
              <a:t>Final</a:t>
            </a:r>
            <a:r>
              <a:rPr dirty="0" sz="1000" spc="-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Result: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dirty="0" sz="1000">
                <a:latin typeface="Tahoma"/>
                <a:cs typeface="Tahoma"/>
              </a:rPr>
              <a:t>F1</a:t>
            </a:r>
            <a:r>
              <a:rPr dirty="0" sz="1000" spc="2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Score</a:t>
            </a:r>
            <a:r>
              <a:rPr dirty="0" sz="1000" spc="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89.2%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0" y="3357588"/>
            <a:ext cx="4608195" cy="98425"/>
          </a:xfrm>
          <a:custGeom>
            <a:avLst/>
            <a:gdLst/>
            <a:ahLst/>
            <a:cxnLst/>
            <a:rect l="l" t="t" r="r" b="b"/>
            <a:pathLst>
              <a:path w="4608195" h="98425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98412"/>
                </a:lnTo>
                <a:lnTo>
                  <a:pt x="1520647" y="98412"/>
                </a:lnTo>
                <a:lnTo>
                  <a:pt x="3087344" y="98412"/>
                </a:lnTo>
                <a:lnTo>
                  <a:pt x="3087344" y="0"/>
                </a:lnTo>
                <a:close/>
              </a:path>
              <a:path w="4608195" h="98425">
                <a:moveTo>
                  <a:pt x="4608004" y="0"/>
                </a:moveTo>
                <a:lnTo>
                  <a:pt x="3087357" y="0"/>
                </a:lnTo>
                <a:lnTo>
                  <a:pt x="3087357" y="98412"/>
                </a:lnTo>
                <a:lnTo>
                  <a:pt x="4608004" y="98412"/>
                </a:lnTo>
                <a:lnTo>
                  <a:pt x="4608004" y="0"/>
                </a:lnTo>
                <a:close/>
              </a:path>
            </a:pathLst>
          </a:custGeom>
          <a:solidFill>
            <a:srgbClr val="0E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pc="-10"/>
              <a:t>Final</a:t>
            </a:r>
          </a:p>
        </p:txBody>
      </p:sp>
      <p:sp>
        <p:nvSpPr>
          <p:cNvPr id="16" name="object 1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dirty="0" spc="30"/>
              <a:t> </a:t>
            </a:r>
            <a:r>
              <a:rPr dirty="0"/>
              <a:t>23,</a:t>
            </a:r>
            <a:r>
              <a:rPr dirty="0" spc="35"/>
              <a:t> </a:t>
            </a:r>
            <a:r>
              <a:rPr dirty="0" spc="-20"/>
              <a:t>2026</a:t>
            </a: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/>
              <a:t>18</a:t>
            </a:fld>
            <a:r>
              <a:rPr dirty="0" spc="20"/>
              <a:t> </a:t>
            </a:r>
            <a:r>
              <a:rPr dirty="0" spc="125"/>
              <a:t>/</a:t>
            </a:r>
            <a:r>
              <a:rPr dirty="0" spc="25"/>
              <a:t> </a:t>
            </a:r>
            <a:r>
              <a:rPr dirty="0" spc="-25"/>
              <a:t>24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208470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5"/>
              <a:t>Analysis:</a:t>
            </a:r>
            <a:r>
              <a:rPr dirty="0" spc="70"/>
              <a:t> </a:t>
            </a:r>
            <a:r>
              <a:rPr dirty="0" spc="-45"/>
              <a:t>Comparison</a:t>
            </a:r>
            <a:r>
              <a:rPr dirty="0" spc="-55"/>
              <a:t> </a:t>
            </a:r>
            <a:r>
              <a:rPr dirty="0" spc="-20"/>
              <a:t>Table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758475" y="997667"/>
          <a:ext cx="3167379" cy="1150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90775"/>
                <a:gridCol w="689610"/>
              </a:tblGrid>
              <a:tr h="191770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000" spc="-10" b="1">
                          <a:latin typeface="Arial"/>
                          <a:cs typeface="Arial"/>
                        </a:rPr>
                        <a:t>Method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50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000" spc="-10" b="1">
                          <a:latin typeface="Arial"/>
                          <a:cs typeface="Arial"/>
                        </a:rPr>
                        <a:t>Accuracy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50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1770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000">
                          <a:latin typeface="Tahoma"/>
                          <a:cs typeface="Tahoma"/>
                        </a:rPr>
                        <a:t>Manual</a:t>
                      </a:r>
                      <a:r>
                        <a:rPr dirty="0" sz="1000" spc="-6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Traffic</a:t>
                      </a:r>
                      <a:r>
                        <a:rPr dirty="0" sz="1000" spc="-6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Sign</a:t>
                      </a:r>
                      <a:r>
                        <a:rPr dirty="0" sz="1000" spc="-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Recognition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65%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1770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Traditional</a:t>
                      </a:r>
                      <a:r>
                        <a:rPr dirty="0" sz="1000" spc="-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65">
                          <a:latin typeface="Tahoma"/>
                          <a:cs typeface="Tahoma"/>
                        </a:rPr>
                        <a:t>Image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30">
                          <a:latin typeface="Tahoma"/>
                          <a:cs typeface="Tahoma"/>
                        </a:rPr>
                        <a:t>Processing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Methods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72%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1770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000">
                          <a:latin typeface="Tahoma"/>
                          <a:cs typeface="Tahoma"/>
                        </a:rPr>
                        <a:t>Basic</a:t>
                      </a:r>
                      <a:r>
                        <a:rPr dirty="0" sz="1000" spc="-4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Machine</a:t>
                      </a:r>
                      <a:r>
                        <a:rPr dirty="0" sz="1000" spc="-35">
                          <a:latin typeface="Tahoma"/>
                          <a:cs typeface="Tahoma"/>
                        </a:rPr>
                        <a:t> Learning</a:t>
                      </a:r>
                      <a:r>
                        <a:rPr dirty="0" sz="1000" spc="-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Models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80%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1770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000" spc="-30">
                          <a:latin typeface="Tahoma"/>
                          <a:cs typeface="Tahoma"/>
                        </a:rPr>
                        <a:t>Standard</a:t>
                      </a:r>
                      <a:r>
                        <a:rPr dirty="0" sz="1000" spc="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CNN</a:t>
                      </a:r>
                      <a:r>
                        <a:rPr dirty="0" sz="1000" spc="6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Models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85%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1770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000">
                          <a:latin typeface="Tahoma"/>
                          <a:cs typeface="Tahoma"/>
                        </a:rPr>
                        <a:t>Our</a:t>
                      </a:r>
                      <a:r>
                        <a:rPr dirty="0" sz="1000" spc="-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Traffic</a:t>
                      </a:r>
                      <a:r>
                        <a:rPr dirty="0" sz="1000" spc="-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Sign</a:t>
                      </a:r>
                      <a:r>
                        <a:rPr dirty="0" sz="1000" spc="-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Detection</a:t>
                      </a:r>
                      <a:r>
                        <a:rPr dirty="0" sz="1000" spc="-35">
                          <a:latin typeface="Tahoma"/>
                          <a:cs typeface="Tahoma"/>
                        </a:rPr>
                        <a:t> System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(CNN)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91%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434111" y="2215421"/>
            <a:ext cx="374015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20">
                <a:latin typeface="Arial MT"/>
                <a:cs typeface="Arial MT"/>
              </a:rPr>
              <a:t>Table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1: </a:t>
            </a:r>
            <a:r>
              <a:rPr dirty="0" sz="900" spc="-30" b="1">
                <a:latin typeface="Arial"/>
                <a:cs typeface="Arial"/>
              </a:rPr>
              <a:t>Performance</a:t>
            </a:r>
            <a:r>
              <a:rPr dirty="0" sz="900" spc="20" b="1">
                <a:latin typeface="Arial"/>
                <a:cs typeface="Arial"/>
              </a:rPr>
              <a:t> </a:t>
            </a:r>
            <a:r>
              <a:rPr dirty="0" sz="900" spc="-45" b="1">
                <a:latin typeface="Arial"/>
                <a:cs typeface="Arial"/>
              </a:rPr>
              <a:t>Comparison</a:t>
            </a:r>
            <a:r>
              <a:rPr dirty="0" sz="900" spc="1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of</a:t>
            </a:r>
            <a:r>
              <a:rPr dirty="0" sz="900" spc="15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Traffic</a:t>
            </a:r>
            <a:r>
              <a:rPr dirty="0" sz="900" spc="15" b="1">
                <a:latin typeface="Arial"/>
                <a:cs typeface="Arial"/>
              </a:rPr>
              <a:t> </a:t>
            </a:r>
            <a:r>
              <a:rPr dirty="0" sz="900" spc="-30" b="1">
                <a:latin typeface="Arial"/>
                <a:cs typeface="Arial"/>
              </a:rPr>
              <a:t>Sign</a:t>
            </a:r>
            <a:r>
              <a:rPr dirty="0" sz="900" spc="2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Detection</a:t>
            </a:r>
            <a:r>
              <a:rPr dirty="0" sz="900" spc="15" b="1">
                <a:latin typeface="Arial"/>
                <a:cs typeface="Arial"/>
              </a:rPr>
              <a:t> </a:t>
            </a:r>
            <a:r>
              <a:rPr dirty="0" sz="900" spc="-30" b="1">
                <a:latin typeface="Arial"/>
                <a:cs typeface="Arial"/>
              </a:rPr>
              <a:t>Approaches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0" y="3357588"/>
            <a:ext cx="4608195" cy="98425"/>
          </a:xfrm>
          <a:custGeom>
            <a:avLst/>
            <a:gdLst/>
            <a:ahLst/>
            <a:cxnLst/>
            <a:rect l="l" t="t" r="r" b="b"/>
            <a:pathLst>
              <a:path w="4608195" h="98425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98412"/>
                </a:lnTo>
                <a:lnTo>
                  <a:pt x="1520647" y="98412"/>
                </a:lnTo>
                <a:lnTo>
                  <a:pt x="3087344" y="98412"/>
                </a:lnTo>
                <a:lnTo>
                  <a:pt x="3087344" y="0"/>
                </a:lnTo>
                <a:close/>
              </a:path>
              <a:path w="4608195" h="98425">
                <a:moveTo>
                  <a:pt x="4608004" y="0"/>
                </a:moveTo>
                <a:lnTo>
                  <a:pt x="3087357" y="0"/>
                </a:lnTo>
                <a:lnTo>
                  <a:pt x="3087357" y="98412"/>
                </a:lnTo>
                <a:lnTo>
                  <a:pt x="4608004" y="98412"/>
                </a:lnTo>
                <a:lnTo>
                  <a:pt x="4608004" y="0"/>
                </a:lnTo>
                <a:close/>
              </a:path>
            </a:pathLst>
          </a:custGeom>
          <a:solidFill>
            <a:srgbClr val="0E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pc="-10"/>
              <a:t>Final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dirty="0" spc="30"/>
              <a:t> </a:t>
            </a:r>
            <a:r>
              <a:rPr dirty="0"/>
              <a:t>23,</a:t>
            </a:r>
            <a:r>
              <a:rPr dirty="0" spc="35"/>
              <a:t> </a:t>
            </a:r>
            <a:r>
              <a:rPr dirty="0" spc="-20"/>
              <a:t>2026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/>
              <a:t>18</a:t>
            </a:fld>
            <a:r>
              <a:rPr dirty="0" spc="20"/>
              <a:t> </a:t>
            </a:r>
            <a:r>
              <a:rPr dirty="0" spc="125"/>
              <a:t>/</a:t>
            </a:r>
            <a:r>
              <a:rPr dirty="0" spc="25"/>
              <a:t> </a:t>
            </a:r>
            <a:r>
              <a:rPr dirty="0" spc="-25"/>
              <a:t>24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55"/>
              <a:t>FUTURE</a:t>
            </a:r>
            <a:r>
              <a:rPr dirty="0" spc="50"/>
              <a:t> </a:t>
            </a:r>
            <a:r>
              <a:rPr dirty="0" spc="40"/>
              <a:t>SCOPE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00354" y="863782"/>
            <a:ext cx="3641090" cy="1771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12395" indent="139700">
              <a:lnSpc>
                <a:spcPct val="100000"/>
              </a:lnSpc>
              <a:spcBef>
                <a:spcPts val="95"/>
              </a:spcBef>
              <a:buFont typeface="Lucida Sans Unicode"/>
              <a:buChar char="►"/>
              <a:tabLst>
                <a:tab pos="152400" algn="l"/>
              </a:tabLst>
            </a:pPr>
            <a:r>
              <a:rPr dirty="0" sz="1000" spc="-40" b="1">
                <a:latin typeface="Arial"/>
                <a:cs typeface="Arial"/>
              </a:rPr>
              <a:t>Advanced</a:t>
            </a:r>
            <a:r>
              <a:rPr dirty="0" sz="1000" spc="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Model</a:t>
            </a:r>
            <a:r>
              <a:rPr dirty="0" sz="1000" spc="45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Improvement:</a:t>
            </a:r>
            <a:r>
              <a:rPr dirty="0" sz="1000" spc="110" b="1">
                <a:latin typeface="Arial"/>
                <a:cs typeface="Arial"/>
              </a:rPr>
              <a:t> </a:t>
            </a:r>
            <a:r>
              <a:rPr dirty="0" sz="1000" spc="-30">
                <a:latin typeface="Tahoma"/>
                <a:cs typeface="Tahoma"/>
              </a:rPr>
              <a:t>Develop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more</a:t>
            </a:r>
            <a:r>
              <a:rPr dirty="0" sz="1000" spc="-25">
                <a:latin typeface="Tahoma"/>
                <a:cs typeface="Tahoma"/>
              </a:rPr>
              <a:t> efficient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deep </a:t>
            </a:r>
            <a:r>
              <a:rPr dirty="0" sz="1000" spc="-40">
                <a:latin typeface="Tahoma"/>
                <a:cs typeface="Tahoma"/>
              </a:rPr>
              <a:t>learning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models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higher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accuracy </a:t>
            </a:r>
            <a:r>
              <a:rPr dirty="0" sz="1000" spc="-25">
                <a:latin typeface="Tahoma"/>
                <a:cs typeface="Tahoma"/>
              </a:rPr>
              <a:t>and </a:t>
            </a:r>
            <a:r>
              <a:rPr dirty="0" sz="1000" spc="-30">
                <a:latin typeface="Tahoma"/>
                <a:cs typeface="Tahoma"/>
              </a:rPr>
              <a:t>faster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real-</a:t>
            </a:r>
            <a:r>
              <a:rPr dirty="0" sz="1000" spc="-20">
                <a:latin typeface="Tahoma"/>
                <a:cs typeface="Tahoma"/>
              </a:rPr>
              <a:t>time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detection.</a:t>
            </a:r>
            <a:endParaRPr sz="1000">
              <a:latin typeface="Tahoma"/>
              <a:cs typeface="Tahoma"/>
            </a:endParaRPr>
          </a:p>
          <a:p>
            <a:pPr marL="12700" marR="335915" indent="139700">
              <a:lnSpc>
                <a:spcPct val="100000"/>
              </a:lnSpc>
              <a:spcBef>
                <a:spcPts val="985"/>
              </a:spcBef>
              <a:buFont typeface="Lucida Sans Unicode"/>
              <a:buChar char="►"/>
              <a:tabLst>
                <a:tab pos="152400" algn="l"/>
              </a:tabLst>
            </a:pPr>
            <a:r>
              <a:rPr dirty="0" sz="1000" spc="-10" b="1">
                <a:latin typeface="Arial"/>
                <a:cs typeface="Arial"/>
              </a:rPr>
              <a:t>Multi-</a:t>
            </a:r>
            <a:r>
              <a:rPr dirty="0" sz="1000" b="1">
                <a:latin typeface="Arial"/>
                <a:cs typeface="Arial"/>
              </a:rPr>
              <a:t>Camera</a:t>
            </a:r>
            <a:r>
              <a:rPr dirty="0" sz="1000" spc="3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Integration:</a:t>
            </a:r>
            <a:r>
              <a:rPr dirty="0" sz="1000" spc="105" b="1">
                <a:latin typeface="Arial"/>
                <a:cs typeface="Arial"/>
              </a:rPr>
              <a:t> </a:t>
            </a:r>
            <a:r>
              <a:rPr dirty="0" sz="1000" spc="-20">
                <a:latin typeface="Tahoma"/>
                <a:cs typeface="Tahoma"/>
              </a:rPr>
              <a:t>Extend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system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support multiple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cameras</a:t>
            </a:r>
            <a:r>
              <a:rPr dirty="0" sz="1000" spc="-10">
                <a:latin typeface="Tahoma"/>
                <a:cs typeface="Tahoma"/>
              </a:rPr>
              <a:t> for </a:t>
            </a:r>
            <a:r>
              <a:rPr dirty="0" sz="1000" spc="-30">
                <a:latin typeface="Tahoma"/>
                <a:cs typeface="Tahoma"/>
              </a:rPr>
              <a:t>monitoring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traffic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different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locations simultaneously.</a:t>
            </a:r>
            <a:endParaRPr sz="1000">
              <a:latin typeface="Tahoma"/>
              <a:cs typeface="Tahoma"/>
            </a:endParaRPr>
          </a:p>
          <a:p>
            <a:pPr marL="12700" marR="5080" indent="139700">
              <a:lnSpc>
                <a:spcPct val="100000"/>
              </a:lnSpc>
              <a:spcBef>
                <a:spcPts val="985"/>
              </a:spcBef>
              <a:buFont typeface="Lucida Sans Unicode"/>
              <a:buChar char="►"/>
              <a:tabLst>
                <a:tab pos="152400" algn="l"/>
              </a:tabLst>
            </a:pPr>
            <a:r>
              <a:rPr dirty="0" sz="1000" spc="-10" b="1">
                <a:latin typeface="Arial"/>
                <a:cs typeface="Arial"/>
              </a:rPr>
              <a:t>Real-</a:t>
            </a:r>
            <a:r>
              <a:rPr dirty="0" sz="1000" b="1">
                <a:latin typeface="Arial"/>
                <a:cs typeface="Arial"/>
              </a:rPr>
              <a:t>Time</a:t>
            </a:r>
            <a:r>
              <a:rPr dirty="0" sz="1000" spc="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Alert</a:t>
            </a:r>
            <a:r>
              <a:rPr dirty="0" sz="1000" spc="45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System:</a:t>
            </a:r>
            <a:r>
              <a:rPr dirty="0" sz="1000" spc="110" b="1">
                <a:latin typeface="Arial"/>
                <a:cs typeface="Arial"/>
              </a:rPr>
              <a:t> </a:t>
            </a:r>
            <a:r>
              <a:rPr dirty="0" sz="1000" spc="-45">
                <a:latin typeface="Tahoma"/>
                <a:cs typeface="Tahoma"/>
              </a:rPr>
              <a:t>Implement</a:t>
            </a:r>
            <a:r>
              <a:rPr dirty="0" sz="1000" spc="-25">
                <a:latin typeface="Tahoma"/>
                <a:cs typeface="Tahoma"/>
              </a:rPr>
              <a:t> voice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or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notification-</a:t>
            </a:r>
            <a:r>
              <a:rPr dirty="0" sz="1000" spc="-10">
                <a:latin typeface="Tahoma"/>
                <a:cs typeface="Tahoma"/>
              </a:rPr>
              <a:t>based </a:t>
            </a:r>
            <a:r>
              <a:rPr dirty="0" sz="1000" spc="-25">
                <a:latin typeface="Tahoma"/>
                <a:cs typeface="Tahoma"/>
              </a:rPr>
              <a:t>alerts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assist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drivers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instantly.</a:t>
            </a:r>
            <a:endParaRPr sz="1000">
              <a:latin typeface="Tahoma"/>
              <a:cs typeface="Tahoma"/>
            </a:endParaRPr>
          </a:p>
          <a:p>
            <a:pPr marL="12700" marR="313690" indent="139700">
              <a:lnSpc>
                <a:spcPct val="100000"/>
              </a:lnSpc>
              <a:spcBef>
                <a:spcPts val="985"/>
              </a:spcBef>
              <a:buFont typeface="Lucida Sans Unicode"/>
              <a:buChar char="►"/>
              <a:tabLst>
                <a:tab pos="152400" algn="l"/>
              </a:tabLst>
            </a:pPr>
            <a:r>
              <a:rPr dirty="0" sz="1000" b="1">
                <a:latin typeface="Arial"/>
                <a:cs typeface="Arial"/>
              </a:rPr>
              <a:t>Mobile</a:t>
            </a:r>
            <a:r>
              <a:rPr dirty="0" sz="1000" spc="15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Application</a:t>
            </a:r>
            <a:r>
              <a:rPr dirty="0" sz="1000" spc="2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Integration:</a:t>
            </a:r>
            <a:r>
              <a:rPr dirty="0" sz="1000" spc="80" b="1">
                <a:latin typeface="Arial"/>
                <a:cs typeface="Arial"/>
              </a:rPr>
              <a:t> </a:t>
            </a:r>
            <a:r>
              <a:rPr dirty="0" sz="1000" spc="-30">
                <a:latin typeface="Tahoma"/>
                <a:cs typeface="Tahoma"/>
              </a:rPr>
              <a:t>Develop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mobile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app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to </a:t>
            </a:r>
            <a:r>
              <a:rPr dirty="0" sz="1000" spc="-30">
                <a:latin typeface="Tahoma"/>
                <a:cs typeface="Tahoma"/>
              </a:rPr>
              <a:t>display</a:t>
            </a:r>
            <a:r>
              <a:rPr dirty="0" sz="1000" spc="-35">
                <a:latin typeface="Tahoma"/>
                <a:cs typeface="Tahoma"/>
              </a:rPr>
              <a:t> detected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traffic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signs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alerts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real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time.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0" y="3357588"/>
            <a:ext cx="4608195" cy="98425"/>
          </a:xfrm>
          <a:custGeom>
            <a:avLst/>
            <a:gdLst/>
            <a:ahLst/>
            <a:cxnLst/>
            <a:rect l="l" t="t" r="r" b="b"/>
            <a:pathLst>
              <a:path w="4608195" h="98425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98412"/>
                </a:lnTo>
                <a:lnTo>
                  <a:pt x="1520647" y="98412"/>
                </a:lnTo>
                <a:lnTo>
                  <a:pt x="3087344" y="98412"/>
                </a:lnTo>
                <a:lnTo>
                  <a:pt x="3087344" y="0"/>
                </a:lnTo>
                <a:close/>
              </a:path>
              <a:path w="4608195" h="98425">
                <a:moveTo>
                  <a:pt x="4608004" y="0"/>
                </a:moveTo>
                <a:lnTo>
                  <a:pt x="3087357" y="0"/>
                </a:lnTo>
                <a:lnTo>
                  <a:pt x="3087357" y="98412"/>
                </a:lnTo>
                <a:lnTo>
                  <a:pt x="4608004" y="98412"/>
                </a:lnTo>
                <a:lnTo>
                  <a:pt x="4608004" y="0"/>
                </a:lnTo>
                <a:close/>
              </a:path>
            </a:pathLst>
          </a:custGeom>
          <a:solidFill>
            <a:srgbClr val="0E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pc="-10"/>
              <a:t>Final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dirty="0" spc="30"/>
              <a:t> </a:t>
            </a:r>
            <a:r>
              <a:rPr dirty="0"/>
              <a:t>23,</a:t>
            </a:r>
            <a:r>
              <a:rPr dirty="0" spc="35"/>
              <a:t> </a:t>
            </a:r>
            <a:r>
              <a:rPr dirty="0" spc="-20"/>
              <a:t>2026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/>
              <a:t>18</a:t>
            </a:fld>
            <a:r>
              <a:rPr dirty="0" spc="20"/>
              <a:t> </a:t>
            </a:r>
            <a:r>
              <a:rPr dirty="0" spc="125"/>
              <a:t>/</a:t>
            </a:r>
            <a:r>
              <a:rPr dirty="0" spc="25"/>
              <a:t> </a:t>
            </a:r>
            <a:r>
              <a:rPr dirty="0" spc="-25"/>
              <a:t>24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CONCLUSION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00354" y="924514"/>
            <a:ext cx="3576320" cy="1619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39700">
              <a:lnSpc>
                <a:spcPct val="100000"/>
              </a:lnSpc>
              <a:spcBef>
                <a:spcPts val="95"/>
              </a:spcBef>
              <a:buFont typeface="Lucida Sans Unicode"/>
              <a:buChar char="►"/>
              <a:tabLst>
                <a:tab pos="152400" algn="l"/>
              </a:tabLst>
            </a:pPr>
            <a:r>
              <a:rPr dirty="0" sz="1000">
                <a:latin typeface="Tahoma"/>
                <a:cs typeface="Tahoma"/>
              </a:rPr>
              <a:t>The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system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successfully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detects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classifies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traffic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signs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20">
                <a:latin typeface="Tahoma"/>
                <a:cs typeface="Tahoma"/>
              </a:rPr>
              <a:t> real </a:t>
            </a:r>
            <a:r>
              <a:rPr dirty="0" sz="1000" spc="-10">
                <a:latin typeface="Tahoma"/>
                <a:cs typeface="Tahoma"/>
              </a:rPr>
              <a:t>time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using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CNN-</a:t>
            </a:r>
            <a:r>
              <a:rPr dirty="0" sz="1000" spc="-10">
                <a:latin typeface="Tahoma"/>
                <a:cs typeface="Tahoma"/>
              </a:rPr>
              <a:t>based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60">
                <a:latin typeface="Tahoma"/>
                <a:cs typeface="Tahoma"/>
              </a:rPr>
              <a:t>deep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learning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techniques.</a:t>
            </a:r>
            <a:endParaRPr sz="1000">
              <a:latin typeface="Tahoma"/>
              <a:cs typeface="Tahoma"/>
            </a:endParaRPr>
          </a:p>
          <a:p>
            <a:pPr marL="12700" marR="123825" indent="139700">
              <a:lnSpc>
                <a:spcPct val="100000"/>
              </a:lnSpc>
              <a:spcBef>
                <a:spcPts val="985"/>
              </a:spcBef>
              <a:buFont typeface="Lucida Sans Unicode"/>
              <a:buChar char="►"/>
              <a:tabLst>
                <a:tab pos="152400" algn="l"/>
              </a:tabLst>
            </a:pPr>
            <a:r>
              <a:rPr dirty="0" sz="1000">
                <a:latin typeface="Tahoma"/>
                <a:cs typeface="Tahoma"/>
              </a:rPr>
              <a:t>It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improves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driver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65">
                <a:latin typeface="Tahoma"/>
                <a:cs typeface="Tahoma"/>
              </a:rPr>
              <a:t>awareness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by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providing </a:t>
            </a:r>
            <a:r>
              <a:rPr dirty="0" sz="1000" spc="-35">
                <a:latin typeface="Tahoma"/>
                <a:cs typeface="Tahoma"/>
              </a:rPr>
              <a:t>accurate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instant </a:t>
            </a:r>
            <a:r>
              <a:rPr dirty="0" sz="1000" spc="-30">
                <a:latin typeface="Tahoma"/>
                <a:cs typeface="Tahoma"/>
              </a:rPr>
              <a:t>information </a:t>
            </a:r>
            <a:r>
              <a:rPr dirty="0" sz="1000" spc="-10">
                <a:latin typeface="Tahoma"/>
                <a:cs typeface="Tahoma"/>
              </a:rPr>
              <a:t>about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road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signs.</a:t>
            </a:r>
            <a:endParaRPr sz="1000">
              <a:latin typeface="Tahoma"/>
              <a:cs typeface="Tahoma"/>
            </a:endParaRPr>
          </a:p>
          <a:p>
            <a:pPr marL="12700" marR="278130" indent="139700">
              <a:lnSpc>
                <a:spcPct val="100000"/>
              </a:lnSpc>
              <a:spcBef>
                <a:spcPts val="990"/>
              </a:spcBef>
              <a:buFont typeface="Lucida Sans Unicode"/>
              <a:buChar char="►"/>
              <a:tabLst>
                <a:tab pos="152400" algn="l"/>
              </a:tabLst>
            </a:pPr>
            <a:r>
              <a:rPr dirty="0" sz="1000">
                <a:latin typeface="Tahoma"/>
                <a:cs typeface="Tahoma"/>
              </a:rPr>
              <a:t>The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system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reduces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human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error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 </a:t>
            </a:r>
            <a:r>
              <a:rPr dirty="0" sz="1000" spc="-35">
                <a:latin typeface="Tahoma"/>
                <a:cs typeface="Tahoma"/>
              </a:rPr>
              <a:t>supports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safer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driving </a:t>
            </a:r>
            <a:r>
              <a:rPr dirty="0" sz="1000" spc="-35">
                <a:latin typeface="Tahoma"/>
                <a:cs typeface="Tahoma"/>
              </a:rPr>
              <a:t>decisions </a:t>
            </a:r>
            <a:r>
              <a:rPr dirty="0" sz="1000" spc="-40">
                <a:latin typeface="Tahoma"/>
                <a:cs typeface="Tahoma"/>
              </a:rPr>
              <a:t>under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various </a:t>
            </a:r>
            <a:r>
              <a:rPr dirty="0" sz="1000" spc="-10">
                <a:latin typeface="Tahoma"/>
                <a:cs typeface="Tahoma"/>
              </a:rPr>
              <a:t>conditions.</a:t>
            </a:r>
            <a:endParaRPr sz="1000">
              <a:latin typeface="Tahoma"/>
              <a:cs typeface="Tahoma"/>
            </a:endParaRPr>
          </a:p>
          <a:p>
            <a:pPr marL="12700" marR="190500" indent="139700">
              <a:lnSpc>
                <a:spcPct val="100000"/>
              </a:lnSpc>
              <a:spcBef>
                <a:spcPts val="985"/>
              </a:spcBef>
              <a:buFont typeface="Lucida Sans Unicode"/>
              <a:buChar char="►"/>
              <a:tabLst>
                <a:tab pos="152400" algn="l"/>
              </a:tabLst>
            </a:pPr>
            <a:r>
              <a:rPr dirty="0" sz="1000">
                <a:latin typeface="Tahoma"/>
                <a:cs typeface="Tahoma"/>
              </a:rPr>
              <a:t>The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model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achieved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high</a:t>
            </a:r>
            <a:r>
              <a:rPr dirty="0" sz="1000" spc="-30">
                <a:latin typeface="Tahoma"/>
                <a:cs typeface="Tahoma"/>
              </a:rPr>
              <a:t> accuracy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traffic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sign</a:t>
            </a:r>
            <a:r>
              <a:rPr dirty="0" sz="1000" spc="-30">
                <a:latin typeface="Tahoma"/>
                <a:cs typeface="Tahoma"/>
              </a:rPr>
              <a:t> recognition, </a:t>
            </a:r>
            <a:r>
              <a:rPr dirty="0" sz="1000" spc="-35">
                <a:latin typeface="Tahoma"/>
                <a:cs typeface="Tahoma"/>
              </a:rPr>
              <a:t>outperforming</a:t>
            </a:r>
            <a:r>
              <a:rPr dirty="0" sz="1000" spc="-10">
                <a:latin typeface="Tahoma"/>
                <a:cs typeface="Tahoma"/>
              </a:rPr>
              <a:t> traditional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image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processing</a:t>
            </a:r>
            <a:r>
              <a:rPr dirty="0" sz="1000" spc="-10">
                <a:latin typeface="Tahoma"/>
                <a:cs typeface="Tahoma"/>
              </a:rPr>
              <a:t> methods.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0" y="3357588"/>
            <a:ext cx="4608195" cy="98425"/>
          </a:xfrm>
          <a:custGeom>
            <a:avLst/>
            <a:gdLst/>
            <a:ahLst/>
            <a:cxnLst/>
            <a:rect l="l" t="t" r="r" b="b"/>
            <a:pathLst>
              <a:path w="4608195" h="98425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98412"/>
                </a:lnTo>
                <a:lnTo>
                  <a:pt x="1520647" y="98412"/>
                </a:lnTo>
                <a:lnTo>
                  <a:pt x="3087344" y="98412"/>
                </a:lnTo>
                <a:lnTo>
                  <a:pt x="3087344" y="0"/>
                </a:lnTo>
                <a:close/>
              </a:path>
              <a:path w="4608195" h="98425">
                <a:moveTo>
                  <a:pt x="4608004" y="0"/>
                </a:moveTo>
                <a:lnTo>
                  <a:pt x="3087357" y="0"/>
                </a:lnTo>
                <a:lnTo>
                  <a:pt x="3087357" y="98412"/>
                </a:lnTo>
                <a:lnTo>
                  <a:pt x="4608004" y="98412"/>
                </a:lnTo>
                <a:lnTo>
                  <a:pt x="4608004" y="0"/>
                </a:lnTo>
                <a:close/>
              </a:path>
            </a:pathLst>
          </a:custGeom>
          <a:solidFill>
            <a:srgbClr val="0E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pc="-10"/>
              <a:t>Final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dirty="0" spc="30"/>
              <a:t> </a:t>
            </a:r>
            <a:r>
              <a:rPr dirty="0"/>
              <a:t>23,</a:t>
            </a:r>
            <a:r>
              <a:rPr dirty="0" spc="35"/>
              <a:t> </a:t>
            </a:r>
            <a:r>
              <a:rPr dirty="0" spc="-20"/>
              <a:t>2026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/>
              <a:t>18</a:t>
            </a:fld>
            <a:r>
              <a:rPr dirty="0" spc="20"/>
              <a:t> </a:t>
            </a:r>
            <a:r>
              <a:rPr dirty="0" spc="125"/>
              <a:t>/</a:t>
            </a:r>
            <a:r>
              <a:rPr dirty="0" spc="25"/>
              <a:t> </a:t>
            </a:r>
            <a:r>
              <a:rPr dirty="0" spc="-25"/>
              <a:t>24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REFERENCES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7294" y="714202"/>
            <a:ext cx="3851275" cy="23031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64769" indent="16891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181610" algn="l"/>
              </a:tabLst>
            </a:pPr>
            <a:r>
              <a:rPr dirty="0" sz="1000" b="1">
                <a:latin typeface="Arial"/>
                <a:cs typeface="Arial"/>
              </a:rPr>
              <a:t>IEEE</a:t>
            </a:r>
            <a:r>
              <a:rPr dirty="0" sz="1000" spc="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(2025):</a:t>
            </a:r>
            <a:r>
              <a:rPr dirty="0" sz="1000" spc="100" b="1">
                <a:latin typeface="Arial"/>
                <a:cs typeface="Arial"/>
              </a:rPr>
              <a:t> </a:t>
            </a:r>
            <a:r>
              <a:rPr dirty="0" sz="1000" spc="-10" i="1">
                <a:latin typeface="Arial"/>
                <a:cs typeface="Arial"/>
              </a:rPr>
              <a:t>Automated</a:t>
            </a:r>
            <a:r>
              <a:rPr dirty="0" sz="1000" spc="5" i="1">
                <a:latin typeface="Arial"/>
                <a:cs typeface="Arial"/>
              </a:rPr>
              <a:t> </a:t>
            </a:r>
            <a:r>
              <a:rPr dirty="0" sz="1000" spc="-10" i="1">
                <a:latin typeface="Arial"/>
                <a:cs typeface="Arial"/>
              </a:rPr>
              <a:t>Traffic</a:t>
            </a:r>
            <a:r>
              <a:rPr dirty="0" sz="1000" spc="5" i="1">
                <a:latin typeface="Arial"/>
                <a:cs typeface="Arial"/>
              </a:rPr>
              <a:t> </a:t>
            </a:r>
            <a:r>
              <a:rPr dirty="0" sz="1000" spc="-30" i="1">
                <a:latin typeface="Arial"/>
                <a:cs typeface="Arial"/>
              </a:rPr>
              <a:t>Sign</a:t>
            </a:r>
            <a:r>
              <a:rPr dirty="0" sz="1000" spc="5" i="1">
                <a:latin typeface="Arial"/>
                <a:cs typeface="Arial"/>
              </a:rPr>
              <a:t> </a:t>
            </a:r>
            <a:r>
              <a:rPr dirty="0" sz="1000" spc="-30" i="1">
                <a:latin typeface="Arial"/>
                <a:cs typeface="Arial"/>
              </a:rPr>
              <a:t>Recognition</a:t>
            </a:r>
            <a:r>
              <a:rPr dirty="0" sz="1000" spc="1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via</a:t>
            </a:r>
            <a:r>
              <a:rPr dirty="0" sz="1000" spc="5" i="1">
                <a:latin typeface="Arial"/>
                <a:cs typeface="Arial"/>
              </a:rPr>
              <a:t> </a:t>
            </a:r>
            <a:r>
              <a:rPr dirty="0" sz="1000" spc="-10" i="1">
                <a:latin typeface="Arial"/>
                <a:cs typeface="Arial"/>
              </a:rPr>
              <a:t>CNN</a:t>
            </a:r>
            <a:r>
              <a:rPr dirty="0" sz="1000" spc="5" i="1">
                <a:latin typeface="Arial"/>
                <a:cs typeface="Arial"/>
              </a:rPr>
              <a:t> </a:t>
            </a:r>
            <a:r>
              <a:rPr dirty="0" sz="1000" spc="-20" i="1">
                <a:latin typeface="Arial"/>
                <a:cs typeface="Arial"/>
              </a:rPr>
              <a:t>Deep </a:t>
            </a:r>
            <a:r>
              <a:rPr dirty="0" sz="1000" spc="-30" i="1">
                <a:latin typeface="Arial"/>
                <a:cs typeface="Arial"/>
              </a:rPr>
              <a:t>Learning</a:t>
            </a:r>
            <a:r>
              <a:rPr dirty="0" sz="1000" spc="125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– </a:t>
            </a:r>
            <a:r>
              <a:rPr dirty="0" sz="1000" spc="-35">
                <a:latin typeface="Tahoma"/>
                <a:cs typeface="Tahoma"/>
              </a:rPr>
              <a:t>Describes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 </a:t>
            </a:r>
            <a:r>
              <a:rPr dirty="0" sz="1000" spc="-60">
                <a:latin typeface="Tahoma"/>
                <a:cs typeface="Tahoma"/>
              </a:rPr>
              <a:t>deep</a:t>
            </a:r>
            <a:r>
              <a:rPr dirty="0" sz="1000">
                <a:latin typeface="Tahoma"/>
                <a:cs typeface="Tahoma"/>
              </a:rPr>
              <a:t> CNN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architecture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with </a:t>
            </a:r>
            <a:r>
              <a:rPr dirty="0" sz="1000" spc="-45">
                <a:latin typeface="Tahoma"/>
                <a:cs typeface="Tahoma"/>
              </a:rPr>
              <a:t>preprocessing,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ROI extraction, and </a:t>
            </a:r>
            <a:r>
              <a:rPr dirty="0" sz="1000" spc="-35">
                <a:latin typeface="Tahoma"/>
                <a:cs typeface="Tahoma"/>
              </a:rPr>
              <a:t>real-</a:t>
            </a:r>
            <a:r>
              <a:rPr dirty="0" sz="1000" spc="-20">
                <a:latin typeface="Tahoma"/>
                <a:cs typeface="Tahoma"/>
              </a:rPr>
              <a:t>time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traffic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sign </a:t>
            </a:r>
            <a:r>
              <a:rPr dirty="0" sz="1000" spc="-10">
                <a:latin typeface="Tahoma"/>
                <a:cs typeface="Tahoma"/>
              </a:rPr>
              <a:t>recognition.</a:t>
            </a:r>
            <a:endParaRPr sz="1000">
              <a:latin typeface="Tahoma"/>
              <a:cs typeface="Tahoma"/>
            </a:endParaRPr>
          </a:p>
          <a:p>
            <a:pPr marL="12700" marR="267335" indent="168910">
              <a:lnSpc>
                <a:spcPct val="100000"/>
              </a:lnSpc>
              <a:spcBef>
                <a:spcPts val="785"/>
              </a:spcBef>
              <a:buAutoNum type="arabicPeriod"/>
              <a:tabLst>
                <a:tab pos="181610" algn="l"/>
              </a:tabLst>
            </a:pPr>
            <a:r>
              <a:rPr dirty="0" sz="1000" b="1">
                <a:latin typeface="Arial"/>
                <a:cs typeface="Arial"/>
              </a:rPr>
              <a:t>IEEE</a:t>
            </a:r>
            <a:r>
              <a:rPr dirty="0" sz="1000" spc="5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(2024):</a:t>
            </a:r>
            <a:r>
              <a:rPr dirty="0" sz="1000" spc="125" b="1">
                <a:latin typeface="Arial"/>
                <a:cs typeface="Arial"/>
              </a:rPr>
              <a:t> </a:t>
            </a:r>
            <a:r>
              <a:rPr dirty="0" sz="1000" spc="-45" i="1">
                <a:latin typeface="Arial"/>
                <a:cs typeface="Arial"/>
              </a:rPr>
              <a:t>Customized</a:t>
            </a:r>
            <a:r>
              <a:rPr dirty="0" sz="1000" spc="25" i="1">
                <a:latin typeface="Arial"/>
                <a:cs typeface="Arial"/>
              </a:rPr>
              <a:t> </a:t>
            </a:r>
            <a:r>
              <a:rPr dirty="0" sz="1000" spc="-10" i="1">
                <a:latin typeface="Arial"/>
                <a:cs typeface="Arial"/>
              </a:rPr>
              <a:t>Traffic</a:t>
            </a:r>
            <a:r>
              <a:rPr dirty="0" sz="1000" spc="20" i="1">
                <a:latin typeface="Arial"/>
                <a:cs typeface="Arial"/>
              </a:rPr>
              <a:t> </a:t>
            </a:r>
            <a:r>
              <a:rPr dirty="0" sz="1000" spc="-30" i="1">
                <a:latin typeface="Arial"/>
                <a:cs typeface="Arial"/>
              </a:rPr>
              <a:t>Sign</a:t>
            </a:r>
            <a:r>
              <a:rPr dirty="0" sz="1000" spc="25" i="1">
                <a:latin typeface="Arial"/>
                <a:cs typeface="Arial"/>
              </a:rPr>
              <a:t> </a:t>
            </a:r>
            <a:r>
              <a:rPr dirty="0" sz="1000" spc="-10" i="1">
                <a:latin typeface="Arial"/>
                <a:cs typeface="Arial"/>
              </a:rPr>
              <a:t>Detection</a:t>
            </a:r>
            <a:r>
              <a:rPr dirty="0" sz="1000" spc="4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–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Presents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 </a:t>
            </a:r>
            <a:r>
              <a:rPr dirty="0" sz="1000" spc="-45">
                <a:latin typeface="Tahoma"/>
                <a:cs typeface="Tahoma"/>
              </a:rPr>
              <a:t>advanced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CNN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with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feature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extraction,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spatial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hierarchy,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 </a:t>
            </a:r>
            <a:r>
              <a:rPr dirty="0" sz="1000" spc="-40">
                <a:latin typeface="Tahoma"/>
                <a:cs typeface="Tahoma"/>
              </a:rPr>
              <a:t>context-</a:t>
            </a:r>
            <a:r>
              <a:rPr dirty="0" sz="1000" spc="-65">
                <a:latin typeface="Tahoma"/>
                <a:cs typeface="Tahoma"/>
              </a:rPr>
              <a:t>aware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modules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robust </a:t>
            </a:r>
            <a:r>
              <a:rPr dirty="0" sz="1000" spc="-10">
                <a:latin typeface="Tahoma"/>
                <a:cs typeface="Tahoma"/>
              </a:rPr>
              <a:t>traffic</a:t>
            </a:r>
            <a:r>
              <a:rPr dirty="0" sz="1000" spc="-25">
                <a:latin typeface="Tahoma"/>
                <a:cs typeface="Tahoma"/>
              </a:rPr>
              <a:t> sign </a:t>
            </a:r>
            <a:r>
              <a:rPr dirty="0" sz="1000" spc="-10">
                <a:latin typeface="Tahoma"/>
                <a:cs typeface="Tahoma"/>
              </a:rPr>
              <a:t>detection.</a:t>
            </a:r>
            <a:endParaRPr sz="1000">
              <a:latin typeface="Tahoma"/>
              <a:cs typeface="Tahoma"/>
            </a:endParaRPr>
          </a:p>
          <a:p>
            <a:pPr algn="just" marL="12700" marR="5080" indent="168910">
              <a:lnSpc>
                <a:spcPct val="100000"/>
              </a:lnSpc>
              <a:spcBef>
                <a:spcPts val="780"/>
              </a:spcBef>
              <a:buAutoNum type="arabicPeriod"/>
              <a:tabLst>
                <a:tab pos="181610" algn="l"/>
              </a:tabLst>
            </a:pPr>
            <a:r>
              <a:rPr dirty="0" sz="1000" b="1">
                <a:latin typeface="Arial"/>
                <a:cs typeface="Arial"/>
              </a:rPr>
              <a:t>IEEE</a:t>
            </a:r>
            <a:r>
              <a:rPr dirty="0" sz="1000" spc="5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(2024):</a:t>
            </a:r>
            <a:r>
              <a:rPr dirty="0" sz="1000" spc="120" b="1">
                <a:latin typeface="Arial"/>
                <a:cs typeface="Arial"/>
              </a:rPr>
              <a:t> </a:t>
            </a:r>
            <a:r>
              <a:rPr dirty="0" sz="1000" spc="-10" i="1">
                <a:latin typeface="Arial"/>
                <a:cs typeface="Arial"/>
              </a:rPr>
              <a:t>Traffic</a:t>
            </a:r>
            <a:r>
              <a:rPr dirty="0" sz="1000" spc="25" i="1">
                <a:latin typeface="Arial"/>
                <a:cs typeface="Arial"/>
              </a:rPr>
              <a:t> </a:t>
            </a:r>
            <a:r>
              <a:rPr dirty="0" sz="1000" spc="-30" i="1">
                <a:latin typeface="Arial"/>
                <a:cs typeface="Arial"/>
              </a:rPr>
              <a:t>Sign</a:t>
            </a:r>
            <a:r>
              <a:rPr dirty="0" sz="1000" spc="20" i="1">
                <a:latin typeface="Arial"/>
                <a:cs typeface="Arial"/>
              </a:rPr>
              <a:t> </a:t>
            </a:r>
            <a:r>
              <a:rPr dirty="0" sz="1000" spc="-35" i="1">
                <a:latin typeface="Arial"/>
                <a:cs typeface="Arial"/>
              </a:rPr>
              <a:t>Classification</a:t>
            </a:r>
            <a:r>
              <a:rPr dirty="0" sz="1000" spc="2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for</a:t>
            </a:r>
            <a:r>
              <a:rPr dirty="0" sz="1000" spc="25" i="1">
                <a:latin typeface="Arial"/>
                <a:cs typeface="Arial"/>
              </a:rPr>
              <a:t> </a:t>
            </a:r>
            <a:r>
              <a:rPr dirty="0" sz="1000" spc="-55" i="1">
                <a:latin typeface="Arial"/>
                <a:cs typeface="Arial"/>
              </a:rPr>
              <a:t>Road</a:t>
            </a:r>
            <a:r>
              <a:rPr dirty="0" sz="1000" spc="20" i="1">
                <a:latin typeface="Arial"/>
                <a:cs typeface="Arial"/>
              </a:rPr>
              <a:t> </a:t>
            </a:r>
            <a:r>
              <a:rPr dirty="0" sz="1000" spc="-30" i="1">
                <a:latin typeface="Arial"/>
                <a:cs typeface="Arial"/>
              </a:rPr>
              <a:t>Safety</a:t>
            </a:r>
            <a:r>
              <a:rPr dirty="0" sz="1000" spc="25" i="1">
                <a:latin typeface="Arial"/>
                <a:cs typeface="Arial"/>
              </a:rPr>
              <a:t> </a:t>
            </a:r>
            <a:r>
              <a:rPr dirty="0" sz="1000" spc="-30" i="1">
                <a:latin typeface="Arial"/>
                <a:cs typeface="Arial"/>
              </a:rPr>
              <a:t>using</a:t>
            </a:r>
            <a:r>
              <a:rPr dirty="0" sz="1000" spc="20" i="1">
                <a:latin typeface="Arial"/>
                <a:cs typeface="Arial"/>
              </a:rPr>
              <a:t> </a:t>
            </a:r>
            <a:r>
              <a:rPr dirty="0" sz="1000" spc="-25" i="1">
                <a:latin typeface="Arial"/>
                <a:cs typeface="Arial"/>
              </a:rPr>
              <a:t>CNN </a:t>
            </a:r>
            <a:r>
              <a:rPr dirty="0" sz="1000">
                <a:latin typeface="Tahoma"/>
                <a:cs typeface="Tahoma"/>
              </a:rPr>
              <a:t>– </a:t>
            </a:r>
            <a:r>
              <a:rPr dirty="0" sz="1000" spc="-20">
                <a:latin typeface="Tahoma"/>
                <a:cs typeface="Tahoma"/>
              </a:rPr>
              <a:t>Explains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 </a:t>
            </a:r>
            <a:r>
              <a:rPr dirty="0" sz="1000" spc="-40">
                <a:latin typeface="Tahoma"/>
                <a:cs typeface="Tahoma"/>
              </a:rPr>
              <a:t>five-</a:t>
            </a:r>
            <a:r>
              <a:rPr dirty="0" sz="1000" spc="-45">
                <a:latin typeface="Tahoma"/>
                <a:cs typeface="Tahoma"/>
              </a:rPr>
              <a:t>layer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CNN with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OpenCV-</a:t>
            </a:r>
            <a:r>
              <a:rPr dirty="0" sz="1000" spc="-25">
                <a:latin typeface="Tahoma"/>
                <a:cs typeface="Tahoma"/>
              </a:rPr>
              <a:t>based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image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enhancement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for </a:t>
            </a:r>
            <a:r>
              <a:rPr dirty="0" sz="1000" spc="-35">
                <a:latin typeface="Tahoma"/>
                <a:cs typeface="Tahoma"/>
              </a:rPr>
              <a:t>accurate </a:t>
            </a:r>
            <a:r>
              <a:rPr dirty="0" sz="1000" spc="-10">
                <a:latin typeface="Tahoma"/>
                <a:cs typeface="Tahoma"/>
              </a:rPr>
              <a:t>traffic</a:t>
            </a:r>
            <a:r>
              <a:rPr dirty="0" sz="1000" spc="-25">
                <a:latin typeface="Tahoma"/>
                <a:cs typeface="Tahoma"/>
              </a:rPr>
              <a:t> sign </a:t>
            </a:r>
            <a:r>
              <a:rPr dirty="0" sz="1000" spc="-10">
                <a:latin typeface="Tahoma"/>
                <a:cs typeface="Tahoma"/>
              </a:rPr>
              <a:t>classification.</a:t>
            </a:r>
            <a:endParaRPr sz="1000">
              <a:latin typeface="Tahoma"/>
              <a:cs typeface="Tahoma"/>
            </a:endParaRPr>
          </a:p>
          <a:p>
            <a:pPr marL="12700" marR="8255" indent="168910">
              <a:lnSpc>
                <a:spcPct val="100000"/>
              </a:lnSpc>
              <a:spcBef>
                <a:spcPts val="785"/>
              </a:spcBef>
              <a:buAutoNum type="arabicPeriod"/>
              <a:tabLst>
                <a:tab pos="181610" algn="l"/>
              </a:tabLst>
            </a:pPr>
            <a:r>
              <a:rPr dirty="0" sz="1000" b="1">
                <a:latin typeface="Arial"/>
                <a:cs typeface="Arial"/>
              </a:rPr>
              <a:t>IEEE</a:t>
            </a:r>
            <a:r>
              <a:rPr dirty="0" sz="1000" spc="5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(2023):</a:t>
            </a:r>
            <a:r>
              <a:rPr dirty="0" sz="1000" spc="125" b="1">
                <a:latin typeface="Arial"/>
                <a:cs typeface="Arial"/>
              </a:rPr>
              <a:t> </a:t>
            </a:r>
            <a:r>
              <a:rPr dirty="0" sz="1000" spc="-10" i="1">
                <a:latin typeface="Arial"/>
                <a:cs typeface="Arial"/>
              </a:rPr>
              <a:t>Traffic</a:t>
            </a:r>
            <a:r>
              <a:rPr dirty="0" sz="1000" spc="30" i="1">
                <a:latin typeface="Arial"/>
                <a:cs typeface="Arial"/>
              </a:rPr>
              <a:t> </a:t>
            </a:r>
            <a:r>
              <a:rPr dirty="0" sz="1000" spc="-30" i="1">
                <a:latin typeface="Arial"/>
                <a:cs typeface="Arial"/>
              </a:rPr>
              <a:t>Sign</a:t>
            </a:r>
            <a:r>
              <a:rPr dirty="0" sz="1000" spc="25" i="1">
                <a:latin typeface="Arial"/>
                <a:cs typeface="Arial"/>
              </a:rPr>
              <a:t> </a:t>
            </a:r>
            <a:r>
              <a:rPr dirty="0" sz="1000" spc="-30" i="1">
                <a:latin typeface="Arial"/>
                <a:cs typeface="Arial"/>
              </a:rPr>
              <a:t>Recognition</a:t>
            </a:r>
            <a:r>
              <a:rPr dirty="0" sz="1000" spc="20" i="1">
                <a:latin typeface="Arial"/>
                <a:cs typeface="Arial"/>
              </a:rPr>
              <a:t> </a:t>
            </a:r>
            <a:r>
              <a:rPr dirty="0" sz="1000" spc="-50" i="1">
                <a:latin typeface="Arial"/>
                <a:cs typeface="Arial"/>
              </a:rPr>
              <a:t>System</a:t>
            </a:r>
            <a:r>
              <a:rPr dirty="0" sz="1000" spc="3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for</a:t>
            </a:r>
            <a:r>
              <a:rPr dirty="0" sz="1000" spc="25" i="1">
                <a:latin typeface="Arial"/>
                <a:cs typeface="Arial"/>
              </a:rPr>
              <a:t> </a:t>
            </a:r>
            <a:r>
              <a:rPr dirty="0" sz="1000" spc="-10" i="1">
                <a:latin typeface="Arial"/>
                <a:cs typeface="Arial"/>
              </a:rPr>
              <a:t>Autonomous </a:t>
            </a:r>
            <a:r>
              <a:rPr dirty="0" sz="1000" spc="-50" i="1">
                <a:latin typeface="Arial"/>
                <a:cs typeface="Arial"/>
              </a:rPr>
              <a:t>Vehicles</a:t>
            </a:r>
            <a:r>
              <a:rPr dirty="0" sz="1000" spc="-5" i="1">
                <a:latin typeface="Arial"/>
                <a:cs typeface="Arial"/>
              </a:rPr>
              <a:t> </a:t>
            </a:r>
            <a:r>
              <a:rPr dirty="0" sz="1000" spc="-30" i="1">
                <a:latin typeface="Arial"/>
                <a:cs typeface="Arial"/>
              </a:rPr>
              <a:t>using</a:t>
            </a:r>
            <a:r>
              <a:rPr dirty="0" sz="1000" spc="-5" i="1">
                <a:latin typeface="Arial"/>
                <a:cs typeface="Arial"/>
              </a:rPr>
              <a:t> </a:t>
            </a:r>
            <a:r>
              <a:rPr dirty="0" sz="1000" spc="-55" i="1">
                <a:latin typeface="Arial"/>
                <a:cs typeface="Arial"/>
              </a:rPr>
              <a:t>Deep</a:t>
            </a:r>
            <a:r>
              <a:rPr dirty="0" sz="1000" spc="-5" i="1">
                <a:latin typeface="Arial"/>
                <a:cs typeface="Arial"/>
              </a:rPr>
              <a:t> </a:t>
            </a:r>
            <a:r>
              <a:rPr dirty="0" sz="1000" spc="-35" i="1">
                <a:latin typeface="Arial"/>
                <a:cs typeface="Arial"/>
              </a:rPr>
              <a:t>Learning</a:t>
            </a:r>
            <a:r>
              <a:rPr dirty="0" sz="1000" spc="8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–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Covers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CNN-</a:t>
            </a:r>
            <a:r>
              <a:rPr dirty="0" sz="1000" spc="-10">
                <a:latin typeface="Tahoma"/>
                <a:cs typeface="Tahoma"/>
              </a:rPr>
              <a:t>based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traffic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sign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detection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classification,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including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preprocessing,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ROI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extraction,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real-</a:t>
            </a:r>
            <a:r>
              <a:rPr dirty="0" sz="1000" spc="-20">
                <a:latin typeface="Tahoma"/>
                <a:cs typeface="Tahoma"/>
              </a:rPr>
              <a:t>time </a:t>
            </a:r>
            <a:r>
              <a:rPr dirty="0" sz="1000" spc="-10">
                <a:latin typeface="Tahoma"/>
                <a:cs typeface="Tahoma"/>
              </a:rPr>
              <a:t>evaluation.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0" y="3357588"/>
            <a:ext cx="4608195" cy="98425"/>
          </a:xfrm>
          <a:custGeom>
            <a:avLst/>
            <a:gdLst/>
            <a:ahLst/>
            <a:cxnLst/>
            <a:rect l="l" t="t" r="r" b="b"/>
            <a:pathLst>
              <a:path w="4608195" h="98425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98412"/>
                </a:lnTo>
                <a:lnTo>
                  <a:pt x="1520647" y="98412"/>
                </a:lnTo>
                <a:lnTo>
                  <a:pt x="3087344" y="98412"/>
                </a:lnTo>
                <a:lnTo>
                  <a:pt x="3087344" y="0"/>
                </a:lnTo>
                <a:close/>
              </a:path>
              <a:path w="4608195" h="98425">
                <a:moveTo>
                  <a:pt x="4608004" y="0"/>
                </a:moveTo>
                <a:lnTo>
                  <a:pt x="3087357" y="0"/>
                </a:lnTo>
                <a:lnTo>
                  <a:pt x="3087357" y="98412"/>
                </a:lnTo>
                <a:lnTo>
                  <a:pt x="4608004" y="98412"/>
                </a:lnTo>
                <a:lnTo>
                  <a:pt x="4608004" y="0"/>
                </a:lnTo>
                <a:close/>
              </a:path>
            </a:pathLst>
          </a:custGeom>
          <a:solidFill>
            <a:srgbClr val="0E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pc="-10"/>
              <a:t>Final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dirty="0" spc="30"/>
              <a:t> </a:t>
            </a:r>
            <a:r>
              <a:rPr dirty="0"/>
              <a:t>23,</a:t>
            </a:r>
            <a:r>
              <a:rPr dirty="0" spc="35"/>
              <a:t> </a:t>
            </a:r>
            <a:r>
              <a:rPr dirty="0" spc="-20"/>
              <a:t>2026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/>
              <a:t>18</a:t>
            </a:fld>
            <a:r>
              <a:rPr dirty="0" spc="20"/>
              <a:t> </a:t>
            </a:r>
            <a:r>
              <a:rPr dirty="0" spc="125"/>
              <a:t>/</a:t>
            </a:r>
            <a:r>
              <a:rPr dirty="0" spc="25"/>
              <a:t> </a:t>
            </a:r>
            <a:r>
              <a:rPr dirty="0" spc="-25"/>
              <a:t>24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667776" y="1153157"/>
            <a:ext cx="1273175" cy="49275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400" spc="105" b="1">
                <a:latin typeface="Arial"/>
                <a:cs typeface="Arial"/>
              </a:rPr>
              <a:t>THANK</a:t>
            </a:r>
            <a:r>
              <a:rPr dirty="0" sz="1400" spc="145" b="1">
                <a:latin typeface="Arial"/>
                <a:cs typeface="Arial"/>
              </a:rPr>
              <a:t> </a:t>
            </a:r>
            <a:r>
              <a:rPr dirty="0" sz="1400" spc="50" b="1">
                <a:latin typeface="Arial"/>
                <a:cs typeface="Arial"/>
              </a:rPr>
              <a:t>YOU!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65"/>
              </a:spcBef>
            </a:pPr>
            <a:r>
              <a:rPr dirty="0" sz="1000" spc="-10">
                <a:latin typeface="Tahoma"/>
                <a:cs typeface="Tahoma"/>
              </a:rPr>
              <a:t>Questions?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333B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DEPARTMENT OF COMPUTER SCIENCE AND ENGINEERING</dc:creator>
  <dc:title>Project PRESENTATION - SREE NARAYANA MANGALAM INSTITUTE OF MANAGEMENT &amp; TECHNOLOGY, MALIANKARA</dc:title>
  <dcterms:created xsi:type="dcterms:W3CDTF">2026-03-25T07:27:00Z</dcterms:created>
  <dcterms:modified xsi:type="dcterms:W3CDTF">2026-03-25T07:27:00Z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2026-03-24T00:00:00Z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2026-03-25T00:00:00Z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pdfTeX-1.40.27</vt:lpwstr>
  </property>
</Properties>
</file>